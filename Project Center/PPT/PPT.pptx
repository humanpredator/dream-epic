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notesMasterIdLst>
    <p:notesMasterId r:id="rId19"/>
  </p:notesMasterIdLst>
  <p:sldIdLst>
    <p:sldId id="256" r:id="rId2"/>
    <p:sldId id="259" r:id="rId3"/>
    <p:sldId id="257" r:id="rId4"/>
    <p:sldId id="258" r:id="rId5"/>
    <p:sldId id="260" r:id="rId6"/>
    <p:sldId id="275" r:id="rId7"/>
    <p:sldId id="262" r:id="rId8"/>
    <p:sldId id="278" r:id="rId9"/>
    <p:sldId id="272" r:id="rId10"/>
    <p:sldId id="273" r:id="rId11"/>
    <p:sldId id="267" r:id="rId12"/>
    <p:sldId id="266" r:id="rId13"/>
    <p:sldId id="276" r:id="rId14"/>
    <p:sldId id="277" r:id="rId15"/>
    <p:sldId id="265" r:id="rId16"/>
    <p:sldId id="271" r:id="rId17"/>
    <p:sldId id="274"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2" d="100"/>
          <a:sy n="72" d="100"/>
        </p:scale>
        <p:origin x="1326"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C5682D-81CD-4CA3-8418-7F257C1030FC}" type="datetimeFigureOut">
              <a:rPr lang="en-IN" smtClean="0"/>
              <a:t>08-06-2022</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A64763-5013-4265-B161-92CAF02558FD}" type="slidenum">
              <a:rPr lang="en-IN" smtClean="0"/>
              <a:t>‹#›</a:t>
            </a:fld>
            <a:endParaRPr lang="en-IN"/>
          </a:p>
        </p:txBody>
      </p:sp>
    </p:spTree>
    <p:extLst>
      <p:ext uri="{BB962C8B-B14F-4D97-AF65-F5344CB8AC3E}">
        <p14:creationId xmlns:p14="http://schemas.microsoft.com/office/powerpoint/2010/main" val="3587668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0F5322-C895-4429-9FDC-5908207FD7AE}" type="slidenum">
              <a:rPr lang="en-US" altLang="en-US"/>
              <a:pPr/>
              <a:t>12</a:t>
            </a:fld>
            <a:endParaRPr lang="en-US" altLang="en-US"/>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r>
              <a:rPr lang="en-US" altLang="en-US"/>
              <a:t>The objective of the project!</a:t>
            </a:r>
          </a:p>
          <a:p>
            <a:r>
              <a:rPr lang="en-US" altLang="en-US"/>
              <a:t>The approach: use several algorithms manipulating the same data.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F3D58-E9DE-4A5D-BE0B-D59B85A95906}"/>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A153D0B6-6690-4248-A200-67BF35820D97}"/>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B5B4988-7C5D-4FB6-A601-264273385C62}"/>
              </a:ext>
            </a:extLst>
          </p:cNvPr>
          <p:cNvSpPr>
            <a:spLocks noGrp="1"/>
          </p:cNvSpPr>
          <p:nvPr>
            <p:ph type="dt" sz="half" idx="10"/>
          </p:nvPr>
        </p:nvSpPr>
        <p:spPr/>
        <p:txBody>
          <a:bodyPr/>
          <a:lstStyle/>
          <a:p>
            <a:fld id="{4B623FB3-6D89-433F-9B44-71608B1C306A}" type="datetimeFigureOut">
              <a:rPr lang="en-IN" smtClean="0"/>
              <a:t>08-06-2022</a:t>
            </a:fld>
            <a:endParaRPr lang="en-IN"/>
          </a:p>
        </p:txBody>
      </p:sp>
      <p:sp>
        <p:nvSpPr>
          <p:cNvPr id="5" name="Footer Placeholder 4">
            <a:extLst>
              <a:ext uri="{FF2B5EF4-FFF2-40B4-BE49-F238E27FC236}">
                <a16:creationId xmlns:a16="http://schemas.microsoft.com/office/drawing/2014/main" id="{4C1C5DF9-DEC3-4BA3-931A-B5BC4AD670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7FC8DD-FA0D-4CFB-81A2-44E9D56D53FD}"/>
              </a:ext>
            </a:extLst>
          </p:cNvPr>
          <p:cNvSpPr>
            <a:spLocks noGrp="1"/>
          </p:cNvSpPr>
          <p:nvPr>
            <p:ph type="sldNum" sz="quarter" idx="12"/>
          </p:nvPr>
        </p:nvSpPr>
        <p:spPr/>
        <p:txBody>
          <a:bodyPr/>
          <a:lstStyle/>
          <a:p>
            <a:fld id="{B4771145-7B4B-4044-8627-060342F784A3}" type="slidenum">
              <a:rPr lang="en-IN" smtClean="0"/>
              <a:t>‹#›</a:t>
            </a:fld>
            <a:endParaRPr lang="en-IN"/>
          </a:p>
        </p:txBody>
      </p:sp>
    </p:spTree>
    <p:extLst>
      <p:ext uri="{BB962C8B-B14F-4D97-AF65-F5344CB8AC3E}">
        <p14:creationId xmlns:p14="http://schemas.microsoft.com/office/powerpoint/2010/main" val="656038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7A431-7D72-4F66-8EDA-A03FA5DA92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F26E27-AAB3-4763-A303-55BC129233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513723-0E51-4351-B877-5EB71F7CCEA6}"/>
              </a:ext>
            </a:extLst>
          </p:cNvPr>
          <p:cNvSpPr>
            <a:spLocks noGrp="1"/>
          </p:cNvSpPr>
          <p:nvPr>
            <p:ph type="dt" sz="half" idx="10"/>
          </p:nvPr>
        </p:nvSpPr>
        <p:spPr/>
        <p:txBody>
          <a:bodyPr/>
          <a:lstStyle/>
          <a:p>
            <a:fld id="{4B623FB3-6D89-433F-9B44-71608B1C306A}" type="datetimeFigureOut">
              <a:rPr lang="en-IN" smtClean="0"/>
              <a:t>08-06-2022</a:t>
            </a:fld>
            <a:endParaRPr lang="en-IN"/>
          </a:p>
        </p:txBody>
      </p:sp>
      <p:sp>
        <p:nvSpPr>
          <p:cNvPr id="5" name="Footer Placeholder 4">
            <a:extLst>
              <a:ext uri="{FF2B5EF4-FFF2-40B4-BE49-F238E27FC236}">
                <a16:creationId xmlns:a16="http://schemas.microsoft.com/office/drawing/2014/main" id="{9481A4A1-F731-431F-BC7D-2B1931CDFD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B3BBFF-23EF-4EC6-B774-FD2BCC7BED63}"/>
              </a:ext>
            </a:extLst>
          </p:cNvPr>
          <p:cNvSpPr>
            <a:spLocks noGrp="1"/>
          </p:cNvSpPr>
          <p:nvPr>
            <p:ph type="sldNum" sz="quarter" idx="12"/>
          </p:nvPr>
        </p:nvSpPr>
        <p:spPr/>
        <p:txBody>
          <a:bodyPr/>
          <a:lstStyle/>
          <a:p>
            <a:fld id="{B4771145-7B4B-4044-8627-060342F784A3}" type="slidenum">
              <a:rPr lang="en-IN" smtClean="0"/>
              <a:t>‹#›</a:t>
            </a:fld>
            <a:endParaRPr lang="en-IN"/>
          </a:p>
        </p:txBody>
      </p:sp>
    </p:spTree>
    <p:extLst>
      <p:ext uri="{BB962C8B-B14F-4D97-AF65-F5344CB8AC3E}">
        <p14:creationId xmlns:p14="http://schemas.microsoft.com/office/powerpoint/2010/main" val="2502932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288DC-10A0-4B9C-8F19-6ED32153105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80CACD-942C-4507-8A29-BA85F1358E4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6D98A-837A-4045-9908-530FC202910B}"/>
              </a:ext>
            </a:extLst>
          </p:cNvPr>
          <p:cNvSpPr>
            <a:spLocks noGrp="1"/>
          </p:cNvSpPr>
          <p:nvPr>
            <p:ph type="dt" sz="half" idx="10"/>
          </p:nvPr>
        </p:nvSpPr>
        <p:spPr/>
        <p:txBody>
          <a:bodyPr/>
          <a:lstStyle/>
          <a:p>
            <a:fld id="{4B623FB3-6D89-433F-9B44-71608B1C306A}" type="datetimeFigureOut">
              <a:rPr lang="en-IN" smtClean="0"/>
              <a:t>08-06-2022</a:t>
            </a:fld>
            <a:endParaRPr lang="en-IN"/>
          </a:p>
        </p:txBody>
      </p:sp>
      <p:sp>
        <p:nvSpPr>
          <p:cNvPr id="5" name="Footer Placeholder 4">
            <a:extLst>
              <a:ext uri="{FF2B5EF4-FFF2-40B4-BE49-F238E27FC236}">
                <a16:creationId xmlns:a16="http://schemas.microsoft.com/office/drawing/2014/main" id="{0AE18271-D0B9-43E1-BABD-634D3ABC77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0ECEBB-9CAE-45AA-A39E-DE3223F963F7}"/>
              </a:ext>
            </a:extLst>
          </p:cNvPr>
          <p:cNvSpPr>
            <a:spLocks noGrp="1"/>
          </p:cNvSpPr>
          <p:nvPr>
            <p:ph type="sldNum" sz="quarter" idx="12"/>
          </p:nvPr>
        </p:nvSpPr>
        <p:spPr/>
        <p:txBody>
          <a:bodyPr/>
          <a:lstStyle/>
          <a:p>
            <a:fld id="{B4771145-7B4B-4044-8627-060342F784A3}" type="slidenum">
              <a:rPr lang="en-IN" smtClean="0"/>
              <a:t>‹#›</a:t>
            </a:fld>
            <a:endParaRPr lang="en-IN"/>
          </a:p>
        </p:txBody>
      </p:sp>
    </p:spTree>
    <p:extLst>
      <p:ext uri="{BB962C8B-B14F-4D97-AF65-F5344CB8AC3E}">
        <p14:creationId xmlns:p14="http://schemas.microsoft.com/office/powerpoint/2010/main" val="295540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4A231-A6A1-4ECF-A19C-924DFF38B6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057C20-266F-4F3C-B1AB-5E8694402930}"/>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2CC511-BAD4-4BB3-9854-71CF2104C74C}"/>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465F04-3E9B-4542-8CF1-DE1C05368BE3}"/>
              </a:ext>
            </a:extLst>
          </p:cNvPr>
          <p:cNvSpPr>
            <a:spLocks noGrp="1"/>
          </p:cNvSpPr>
          <p:nvPr>
            <p:ph type="dt" sz="half" idx="10"/>
          </p:nvPr>
        </p:nvSpPr>
        <p:spPr/>
        <p:txBody>
          <a:bodyPr/>
          <a:lstStyle/>
          <a:p>
            <a:fld id="{4B623FB3-6D89-433F-9B44-71608B1C306A}" type="datetimeFigureOut">
              <a:rPr lang="en-IN" smtClean="0"/>
              <a:t>08-06-2022</a:t>
            </a:fld>
            <a:endParaRPr lang="en-IN"/>
          </a:p>
        </p:txBody>
      </p:sp>
      <p:sp>
        <p:nvSpPr>
          <p:cNvPr id="6" name="Footer Placeholder 5">
            <a:extLst>
              <a:ext uri="{FF2B5EF4-FFF2-40B4-BE49-F238E27FC236}">
                <a16:creationId xmlns:a16="http://schemas.microsoft.com/office/drawing/2014/main" id="{34058C15-E54F-4C4D-805F-6C9C6E17C6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635A9D-DE4F-4D15-904D-6ABA8B0DB305}"/>
              </a:ext>
            </a:extLst>
          </p:cNvPr>
          <p:cNvSpPr>
            <a:spLocks noGrp="1"/>
          </p:cNvSpPr>
          <p:nvPr>
            <p:ph type="sldNum" sz="quarter" idx="12"/>
          </p:nvPr>
        </p:nvSpPr>
        <p:spPr/>
        <p:txBody>
          <a:bodyPr/>
          <a:lstStyle/>
          <a:p>
            <a:fld id="{B4771145-7B4B-4044-8627-060342F784A3}" type="slidenum">
              <a:rPr lang="en-IN" smtClean="0"/>
              <a:t>‹#›</a:t>
            </a:fld>
            <a:endParaRPr lang="en-IN"/>
          </a:p>
        </p:txBody>
      </p:sp>
    </p:spTree>
    <p:extLst>
      <p:ext uri="{BB962C8B-B14F-4D97-AF65-F5344CB8AC3E}">
        <p14:creationId xmlns:p14="http://schemas.microsoft.com/office/powerpoint/2010/main" val="3337609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2AB76-3315-4AE2-903D-9D3D0D77F2FA}"/>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BB8DA2-ED74-4F70-8CE7-DACFDA11F68B}"/>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023F450-4035-4CF4-A06E-5C6C306949C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C40BEB-ADEC-4C67-949B-45C2F9D7EC9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D645008-A3FE-4FC0-888E-AB42EAF6B292}"/>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00E98F4-BF4E-4CC8-9B3C-1A681FE3F2BE}"/>
              </a:ext>
            </a:extLst>
          </p:cNvPr>
          <p:cNvSpPr>
            <a:spLocks noGrp="1"/>
          </p:cNvSpPr>
          <p:nvPr>
            <p:ph type="dt" sz="half" idx="10"/>
          </p:nvPr>
        </p:nvSpPr>
        <p:spPr/>
        <p:txBody>
          <a:bodyPr/>
          <a:lstStyle/>
          <a:p>
            <a:fld id="{4B623FB3-6D89-433F-9B44-71608B1C306A}" type="datetimeFigureOut">
              <a:rPr lang="en-IN" smtClean="0"/>
              <a:t>08-06-2022</a:t>
            </a:fld>
            <a:endParaRPr lang="en-IN"/>
          </a:p>
        </p:txBody>
      </p:sp>
      <p:sp>
        <p:nvSpPr>
          <p:cNvPr id="8" name="Footer Placeholder 7">
            <a:extLst>
              <a:ext uri="{FF2B5EF4-FFF2-40B4-BE49-F238E27FC236}">
                <a16:creationId xmlns:a16="http://schemas.microsoft.com/office/drawing/2014/main" id="{C6CF128B-391A-4B4F-AF3A-604B74BC41E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9B3DDED-D03E-472D-9D3B-EC2B5C98ABC0}"/>
              </a:ext>
            </a:extLst>
          </p:cNvPr>
          <p:cNvSpPr>
            <a:spLocks noGrp="1"/>
          </p:cNvSpPr>
          <p:nvPr>
            <p:ph type="sldNum" sz="quarter" idx="12"/>
          </p:nvPr>
        </p:nvSpPr>
        <p:spPr/>
        <p:txBody>
          <a:bodyPr/>
          <a:lstStyle/>
          <a:p>
            <a:fld id="{B4771145-7B4B-4044-8627-060342F784A3}" type="slidenum">
              <a:rPr lang="en-IN" smtClean="0"/>
              <a:t>‹#›</a:t>
            </a:fld>
            <a:endParaRPr lang="en-IN"/>
          </a:p>
        </p:txBody>
      </p:sp>
    </p:spTree>
    <p:extLst>
      <p:ext uri="{BB962C8B-B14F-4D97-AF65-F5344CB8AC3E}">
        <p14:creationId xmlns:p14="http://schemas.microsoft.com/office/powerpoint/2010/main" val="889888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031D1-4C64-488D-9070-5F56F9AE9B6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0D648B-6136-4C93-ADAF-5B38DDAE0FD8}"/>
              </a:ext>
            </a:extLst>
          </p:cNvPr>
          <p:cNvSpPr>
            <a:spLocks noGrp="1"/>
          </p:cNvSpPr>
          <p:nvPr>
            <p:ph type="dt" sz="half" idx="10"/>
          </p:nvPr>
        </p:nvSpPr>
        <p:spPr/>
        <p:txBody>
          <a:bodyPr/>
          <a:lstStyle/>
          <a:p>
            <a:fld id="{4B623FB3-6D89-433F-9B44-71608B1C306A}" type="datetimeFigureOut">
              <a:rPr lang="en-IN" smtClean="0"/>
              <a:t>08-06-2022</a:t>
            </a:fld>
            <a:endParaRPr lang="en-IN"/>
          </a:p>
        </p:txBody>
      </p:sp>
      <p:sp>
        <p:nvSpPr>
          <p:cNvPr id="4" name="Footer Placeholder 3">
            <a:extLst>
              <a:ext uri="{FF2B5EF4-FFF2-40B4-BE49-F238E27FC236}">
                <a16:creationId xmlns:a16="http://schemas.microsoft.com/office/drawing/2014/main" id="{976D68D1-0540-4A6B-B629-08AD05E2252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63E26AF-5F3C-4851-94D2-2F9274DA2E1A}"/>
              </a:ext>
            </a:extLst>
          </p:cNvPr>
          <p:cNvSpPr>
            <a:spLocks noGrp="1"/>
          </p:cNvSpPr>
          <p:nvPr>
            <p:ph type="sldNum" sz="quarter" idx="12"/>
          </p:nvPr>
        </p:nvSpPr>
        <p:spPr/>
        <p:txBody>
          <a:bodyPr/>
          <a:lstStyle/>
          <a:p>
            <a:fld id="{B4771145-7B4B-4044-8627-060342F784A3}" type="slidenum">
              <a:rPr lang="en-IN" smtClean="0"/>
              <a:t>‹#›</a:t>
            </a:fld>
            <a:endParaRPr lang="en-IN"/>
          </a:p>
        </p:txBody>
      </p:sp>
    </p:spTree>
    <p:extLst>
      <p:ext uri="{BB962C8B-B14F-4D97-AF65-F5344CB8AC3E}">
        <p14:creationId xmlns:p14="http://schemas.microsoft.com/office/powerpoint/2010/main" val="1085748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0AF6D5-73DE-4AF8-B706-964D9ACFB95E}"/>
              </a:ext>
            </a:extLst>
          </p:cNvPr>
          <p:cNvSpPr>
            <a:spLocks noGrp="1"/>
          </p:cNvSpPr>
          <p:nvPr>
            <p:ph type="dt" sz="half" idx="10"/>
          </p:nvPr>
        </p:nvSpPr>
        <p:spPr/>
        <p:txBody>
          <a:bodyPr/>
          <a:lstStyle/>
          <a:p>
            <a:fld id="{4B623FB3-6D89-433F-9B44-71608B1C306A}" type="datetimeFigureOut">
              <a:rPr lang="en-IN" smtClean="0"/>
              <a:t>08-06-2022</a:t>
            </a:fld>
            <a:endParaRPr lang="en-IN"/>
          </a:p>
        </p:txBody>
      </p:sp>
      <p:sp>
        <p:nvSpPr>
          <p:cNvPr id="3" name="Footer Placeholder 2">
            <a:extLst>
              <a:ext uri="{FF2B5EF4-FFF2-40B4-BE49-F238E27FC236}">
                <a16:creationId xmlns:a16="http://schemas.microsoft.com/office/drawing/2014/main" id="{0BC524A2-F78A-4F59-8A4E-5A982B79283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FFE7EF8-BEA3-4A4E-93B0-49015CDB3838}"/>
              </a:ext>
            </a:extLst>
          </p:cNvPr>
          <p:cNvSpPr>
            <a:spLocks noGrp="1"/>
          </p:cNvSpPr>
          <p:nvPr>
            <p:ph type="sldNum" sz="quarter" idx="12"/>
          </p:nvPr>
        </p:nvSpPr>
        <p:spPr/>
        <p:txBody>
          <a:bodyPr/>
          <a:lstStyle/>
          <a:p>
            <a:fld id="{B4771145-7B4B-4044-8627-060342F784A3}" type="slidenum">
              <a:rPr lang="en-IN" smtClean="0"/>
              <a:t>‹#›</a:t>
            </a:fld>
            <a:endParaRPr lang="en-IN"/>
          </a:p>
        </p:txBody>
      </p:sp>
    </p:spTree>
    <p:extLst>
      <p:ext uri="{BB962C8B-B14F-4D97-AF65-F5344CB8AC3E}">
        <p14:creationId xmlns:p14="http://schemas.microsoft.com/office/powerpoint/2010/main" val="2711609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AFF2B-33E4-44A9-B0B2-48495629600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A435E3-F929-4719-8CCA-B49A29BB142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67A138C-978C-446B-A896-63BF07B7CA6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C37CC52-A55B-4E99-879E-8199CC864C7B}"/>
              </a:ext>
            </a:extLst>
          </p:cNvPr>
          <p:cNvSpPr>
            <a:spLocks noGrp="1"/>
          </p:cNvSpPr>
          <p:nvPr>
            <p:ph type="dt" sz="half" idx="10"/>
          </p:nvPr>
        </p:nvSpPr>
        <p:spPr/>
        <p:txBody>
          <a:bodyPr/>
          <a:lstStyle/>
          <a:p>
            <a:fld id="{4B623FB3-6D89-433F-9B44-71608B1C306A}" type="datetimeFigureOut">
              <a:rPr lang="en-IN" smtClean="0"/>
              <a:t>08-06-2022</a:t>
            </a:fld>
            <a:endParaRPr lang="en-IN"/>
          </a:p>
        </p:txBody>
      </p:sp>
      <p:sp>
        <p:nvSpPr>
          <p:cNvPr id="6" name="Footer Placeholder 5">
            <a:extLst>
              <a:ext uri="{FF2B5EF4-FFF2-40B4-BE49-F238E27FC236}">
                <a16:creationId xmlns:a16="http://schemas.microsoft.com/office/drawing/2014/main" id="{491A3C7A-40C4-4A6C-B6D5-17EE7350D9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0587B4-443F-41E7-ADE1-1C1B63134BF1}"/>
              </a:ext>
            </a:extLst>
          </p:cNvPr>
          <p:cNvSpPr>
            <a:spLocks noGrp="1"/>
          </p:cNvSpPr>
          <p:nvPr>
            <p:ph type="sldNum" sz="quarter" idx="12"/>
          </p:nvPr>
        </p:nvSpPr>
        <p:spPr/>
        <p:txBody>
          <a:bodyPr/>
          <a:lstStyle/>
          <a:p>
            <a:fld id="{B4771145-7B4B-4044-8627-060342F784A3}" type="slidenum">
              <a:rPr lang="en-IN" smtClean="0"/>
              <a:t>‹#›</a:t>
            </a:fld>
            <a:endParaRPr lang="en-IN"/>
          </a:p>
        </p:txBody>
      </p:sp>
    </p:spTree>
    <p:extLst>
      <p:ext uri="{BB962C8B-B14F-4D97-AF65-F5344CB8AC3E}">
        <p14:creationId xmlns:p14="http://schemas.microsoft.com/office/powerpoint/2010/main" val="1208799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B215B-D80F-4A3F-B32E-B96D989164D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4077D3-56A4-4372-BBD4-76A54A9F09C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6CBC3B21-3939-478D-8C72-F719A981C02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F691448-31DD-4AC9-92C4-488C1550E5A0}"/>
              </a:ext>
            </a:extLst>
          </p:cNvPr>
          <p:cNvSpPr>
            <a:spLocks noGrp="1"/>
          </p:cNvSpPr>
          <p:nvPr>
            <p:ph type="dt" sz="half" idx="10"/>
          </p:nvPr>
        </p:nvSpPr>
        <p:spPr/>
        <p:txBody>
          <a:bodyPr/>
          <a:lstStyle/>
          <a:p>
            <a:fld id="{4B623FB3-6D89-433F-9B44-71608B1C306A}" type="datetimeFigureOut">
              <a:rPr lang="en-IN" smtClean="0"/>
              <a:t>08-06-2022</a:t>
            </a:fld>
            <a:endParaRPr lang="en-IN"/>
          </a:p>
        </p:txBody>
      </p:sp>
      <p:sp>
        <p:nvSpPr>
          <p:cNvPr id="6" name="Footer Placeholder 5">
            <a:extLst>
              <a:ext uri="{FF2B5EF4-FFF2-40B4-BE49-F238E27FC236}">
                <a16:creationId xmlns:a16="http://schemas.microsoft.com/office/drawing/2014/main" id="{C5BE8B72-E33E-417F-8F97-E6FA022D02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60D3ED-E5B3-4F81-AE8C-7E23616708BB}"/>
              </a:ext>
            </a:extLst>
          </p:cNvPr>
          <p:cNvSpPr>
            <a:spLocks noGrp="1"/>
          </p:cNvSpPr>
          <p:nvPr>
            <p:ph type="sldNum" sz="quarter" idx="12"/>
          </p:nvPr>
        </p:nvSpPr>
        <p:spPr/>
        <p:txBody>
          <a:bodyPr/>
          <a:lstStyle/>
          <a:p>
            <a:fld id="{B4771145-7B4B-4044-8627-060342F784A3}" type="slidenum">
              <a:rPr lang="en-IN" smtClean="0"/>
              <a:t>‹#›</a:t>
            </a:fld>
            <a:endParaRPr lang="en-IN"/>
          </a:p>
        </p:txBody>
      </p:sp>
    </p:spTree>
    <p:extLst>
      <p:ext uri="{BB962C8B-B14F-4D97-AF65-F5344CB8AC3E}">
        <p14:creationId xmlns:p14="http://schemas.microsoft.com/office/powerpoint/2010/main" val="241469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281C2-14F3-490F-85F4-77B9D70097F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06CE18D-3B72-40F9-872C-CFFE8779DC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0DE22F-1879-4DE9-B75E-753CE9F37048}"/>
              </a:ext>
            </a:extLst>
          </p:cNvPr>
          <p:cNvSpPr>
            <a:spLocks noGrp="1"/>
          </p:cNvSpPr>
          <p:nvPr>
            <p:ph type="dt" sz="half" idx="10"/>
          </p:nvPr>
        </p:nvSpPr>
        <p:spPr/>
        <p:txBody>
          <a:bodyPr/>
          <a:lstStyle/>
          <a:p>
            <a:fld id="{4B623FB3-6D89-433F-9B44-71608B1C306A}" type="datetimeFigureOut">
              <a:rPr lang="en-IN" smtClean="0"/>
              <a:t>08-06-2022</a:t>
            </a:fld>
            <a:endParaRPr lang="en-IN"/>
          </a:p>
        </p:txBody>
      </p:sp>
      <p:sp>
        <p:nvSpPr>
          <p:cNvPr id="5" name="Footer Placeholder 4">
            <a:extLst>
              <a:ext uri="{FF2B5EF4-FFF2-40B4-BE49-F238E27FC236}">
                <a16:creationId xmlns:a16="http://schemas.microsoft.com/office/drawing/2014/main" id="{77C682F3-5270-43D5-ADE5-9F05F60005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20EECA-3E6A-4341-83B2-E4105F8744BA}"/>
              </a:ext>
            </a:extLst>
          </p:cNvPr>
          <p:cNvSpPr>
            <a:spLocks noGrp="1"/>
          </p:cNvSpPr>
          <p:nvPr>
            <p:ph type="sldNum" sz="quarter" idx="12"/>
          </p:nvPr>
        </p:nvSpPr>
        <p:spPr/>
        <p:txBody>
          <a:bodyPr/>
          <a:lstStyle/>
          <a:p>
            <a:fld id="{B4771145-7B4B-4044-8627-060342F784A3}" type="slidenum">
              <a:rPr lang="en-IN" smtClean="0"/>
              <a:t>‹#›</a:t>
            </a:fld>
            <a:endParaRPr lang="en-IN"/>
          </a:p>
        </p:txBody>
      </p:sp>
    </p:spTree>
    <p:extLst>
      <p:ext uri="{BB962C8B-B14F-4D97-AF65-F5344CB8AC3E}">
        <p14:creationId xmlns:p14="http://schemas.microsoft.com/office/powerpoint/2010/main" val="445432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A2ED79-CF9F-43C3-ADF4-6FBE95B42218}"/>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26D667-4C6E-4E69-BE3B-B312824DF8B5}"/>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2A7269-6FD4-4A1A-804B-1A497BC8E692}"/>
              </a:ext>
            </a:extLst>
          </p:cNvPr>
          <p:cNvSpPr>
            <a:spLocks noGrp="1"/>
          </p:cNvSpPr>
          <p:nvPr>
            <p:ph type="dt" sz="half" idx="10"/>
          </p:nvPr>
        </p:nvSpPr>
        <p:spPr/>
        <p:txBody>
          <a:bodyPr/>
          <a:lstStyle/>
          <a:p>
            <a:fld id="{4B623FB3-6D89-433F-9B44-71608B1C306A}" type="datetimeFigureOut">
              <a:rPr lang="en-IN" smtClean="0"/>
              <a:t>08-06-2022</a:t>
            </a:fld>
            <a:endParaRPr lang="en-IN"/>
          </a:p>
        </p:txBody>
      </p:sp>
      <p:sp>
        <p:nvSpPr>
          <p:cNvPr id="5" name="Footer Placeholder 4">
            <a:extLst>
              <a:ext uri="{FF2B5EF4-FFF2-40B4-BE49-F238E27FC236}">
                <a16:creationId xmlns:a16="http://schemas.microsoft.com/office/drawing/2014/main" id="{45D8F627-4112-4908-9C4A-EA251453EA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03D858-D803-46C6-9FAB-0B3DA0A1AA4E}"/>
              </a:ext>
            </a:extLst>
          </p:cNvPr>
          <p:cNvSpPr>
            <a:spLocks noGrp="1"/>
          </p:cNvSpPr>
          <p:nvPr>
            <p:ph type="sldNum" sz="quarter" idx="12"/>
          </p:nvPr>
        </p:nvSpPr>
        <p:spPr/>
        <p:txBody>
          <a:bodyPr/>
          <a:lstStyle/>
          <a:p>
            <a:fld id="{B4771145-7B4B-4044-8627-060342F784A3}" type="slidenum">
              <a:rPr lang="en-IN" smtClean="0"/>
              <a:t>‹#›</a:t>
            </a:fld>
            <a:endParaRPr lang="en-IN"/>
          </a:p>
        </p:txBody>
      </p:sp>
    </p:spTree>
    <p:extLst>
      <p:ext uri="{BB962C8B-B14F-4D97-AF65-F5344CB8AC3E}">
        <p14:creationId xmlns:p14="http://schemas.microsoft.com/office/powerpoint/2010/main" val="1723328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371600" y="609600"/>
            <a:ext cx="73787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809625" y="2214563"/>
            <a:ext cx="3902075" cy="3881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lipArt Placeholder 3"/>
          <p:cNvSpPr>
            <a:spLocks noGrp="1"/>
          </p:cNvSpPr>
          <p:nvPr>
            <p:ph type="clipArt" sz="half" idx="2"/>
          </p:nvPr>
        </p:nvSpPr>
        <p:spPr>
          <a:xfrm>
            <a:off x="4864100" y="2214563"/>
            <a:ext cx="3903663" cy="3881437"/>
          </a:xfrm>
        </p:spPr>
        <p:txBody>
          <a:bodyPr/>
          <a:lstStyle/>
          <a:p>
            <a:endParaRPr lang="en-IN"/>
          </a:p>
        </p:txBody>
      </p:sp>
      <p:sp>
        <p:nvSpPr>
          <p:cNvPr id="5" name="Date Placeholder 4"/>
          <p:cNvSpPr>
            <a:spLocks noGrp="1"/>
          </p:cNvSpPr>
          <p:nvPr>
            <p:ph type="dt" sz="half" idx="10"/>
          </p:nvPr>
        </p:nvSpPr>
        <p:spPr>
          <a:xfrm>
            <a:off x="809625" y="6373813"/>
            <a:ext cx="1905000" cy="457200"/>
          </a:xfrm>
        </p:spPr>
        <p:txBody>
          <a:bodyPr/>
          <a:lstStyle>
            <a:lvl1pPr>
              <a:defRPr/>
            </a:lvl1pPr>
          </a:lstStyle>
          <a:p>
            <a:endParaRPr lang="en-US" altLang="en-US"/>
          </a:p>
        </p:txBody>
      </p:sp>
      <p:sp>
        <p:nvSpPr>
          <p:cNvPr id="6" name="Footer Placeholder 5"/>
          <p:cNvSpPr>
            <a:spLocks noGrp="1"/>
          </p:cNvSpPr>
          <p:nvPr>
            <p:ph type="ftr" sz="quarter" idx="11"/>
          </p:nvPr>
        </p:nvSpPr>
        <p:spPr>
          <a:xfrm>
            <a:off x="3132138" y="6376988"/>
            <a:ext cx="3086100" cy="45720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6589713" y="6376988"/>
            <a:ext cx="2193925" cy="457200"/>
          </a:xfrm>
        </p:spPr>
        <p:txBody>
          <a:bodyPr/>
          <a:lstStyle>
            <a:lvl1pPr>
              <a:defRPr/>
            </a:lvl1pPr>
          </a:lstStyle>
          <a:p>
            <a:fld id="{7B5894FC-EE8B-411F-96CC-F25F1EEECE89}" type="slidenum">
              <a:rPr lang="en-US" altLang="en-US"/>
              <a:pPr/>
              <a:t>‹#›</a:t>
            </a:fld>
            <a:endParaRPr lang="en-US" altLang="en-US"/>
          </a:p>
        </p:txBody>
      </p:sp>
    </p:spTree>
    <p:extLst>
      <p:ext uri="{BB962C8B-B14F-4D97-AF65-F5344CB8AC3E}">
        <p14:creationId xmlns:p14="http://schemas.microsoft.com/office/powerpoint/2010/main" val="1239169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341ECE-F1F9-434C-8ED7-B42F0E14CB2F}"/>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EEC63D-3E5E-436B-AA6A-A089C491B5C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E1D91D-2594-4EA0-BF14-71FF2DCEBDC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B623FB3-6D89-433F-9B44-71608B1C306A}" type="datetimeFigureOut">
              <a:rPr lang="en-IN" smtClean="0"/>
              <a:t>08-06-2022</a:t>
            </a:fld>
            <a:endParaRPr lang="en-IN"/>
          </a:p>
        </p:txBody>
      </p:sp>
      <p:sp>
        <p:nvSpPr>
          <p:cNvPr id="5" name="Footer Placeholder 4">
            <a:extLst>
              <a:ext uri="{FF2B5EF4-FFF2-40B4-BE49-F238E27FC236}">
                <a16:creationId xmlns:a16="http://schemas.microsoft.com/office/drawing/2014/main" id="{9C3C8799-C46D-404E-B4CB-CBA46798AF3D}"/>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47A56AE-F1AF-412C-849E-A71B32BDD7FE}"/>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4771145-7B4B-4044-8627-060342F784A3}" type="slidenum">
              <a:rPr lang="en-IN" smtClean="0"/>
              <a:t>‹#›</a:t>
            </a:fld>
            <a:endParaRPr lang="en-IN"/>
          </a:p>
        </p:txBody>
      </p:sp>
    </p:spTree>
    <p:extLst>
      <p:ext uri="{BB962C8B-B14F-4D97-AF65-F5344CB8AC3E}">
        <p14:creationId xmlns:p14="http://schemas.microsoft.com/office/powerpoint/2010/main" val="2148339813"/>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tore.yahoo.com/cgi-bin/clink?kodak2+shopping:dmiys/card_reader/dmks/_card__reader+http://us.rmi.yahoo.com/rmi/http://www.kodak.com/rmi-product-url/http://www.kodak.com/US/en/corp/store/catalog/Product.jhtml?PRODID%3D262"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gif"/><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31257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ABSTRACT</a:t>
            </a:r>
          </a:p>
        </p:txBody>
      </p:sp>
      <p:sp>
        <p:nvSpPr>
          <p:cNvPr id="3" name="Content Placeholder 2"/>
          <p:cNvSpPr>
            <a:spLocks noGrp="1"/>
          </p:cNvSpPr>
          <p:nvPr>
            <p:ph idx="1"/>
          </p:nvPr>
        </p:nvSpPr>
        <p:spPr/>
        <p:txBody>
          <a:bodyPr>
            <a:normAutofit/>
          </a:bodyPr>
          <a:lstStyle/>
          <a:p>
            <a:pPr marL="0" indent="0" algn="just">
              <a:buNone/>
            </a:pPr>
            <a:r>
              <a:rPr lang="en-US" sz="2000" dirty="0"/>
              <a:t>We have designed a Smart Voting Machine where there is no need for the user to carry his ID which contains his required details. The person at the polling booth needs only to place his Finger in finger print scanner and capture the face identity in web camera at the counter of the polling booth, thus allowing the acquisition of an on-spot Fingerprint and Face from the voter which serves as an identification. This data is passed on to the controlling unit for the verification. The controller fetches the data from the reader and compares this data with the already existing data stored during the registration of the voters. If the data matches with the pre-stored information of the registered fingerprint and Face, the person is allowed to cast his vote. If not, a warning message is displayed on LCD and warns through the voice by this way, the person is barred from polling his vote. </a:t>
            </a:r>
            <a:endParaRPr lang="en-IN" sz="2000" dirty="0"/>
          </a:p>
        </p:txBody>
      </p:sp>
    </p:spTree>
    <p:extLst>
      <p:ext uri="{BB962C8B-B14F-4D97-AF65-F5344CB8AC3E}">
        <p14:creationId xmlns:p14="http://schemas.microsoft.com/office/powerpoint/2010/main" val="3273576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INTRODUCTION</a:t>
            </a:r>
            <a:br>
              <a:rPr lang="en-IN" dirty="0"/>
            </a:br>
            <a:endParaRPr lang="en-IN" dirty="0"/>
          </a:p>
        </p:txBody>
      </p:sp>
      <p:sp>
        <p:nvSpPr>
          <p:cNvPr id="3" name="Content Placeholder 2"/>
          <p:cNvSpPr>
            <a:spLocks noGrp="1"/>
          </p:cNvSpPr>
          <p:nvPr>
            <p:ph idx="1"/>
          </p:nvPr>
        </p:nvSpPr>
        <p:spPr/>
        <p:txBody>
          <a:bodyPr>
            <a:normAutofit/>
          </a:bodyPr>
          <a:lstStyle/>
          <a:p>
            <a:pPr marL="0" indent="0" algn="just">
              <a:buNone/>
            </a:pPr>
            <a:r>
              <a:rPr lang="en-US" sz="1800" dirty="0"/>
              <a:t>Biometrics is the science and technology of measuring and analyzing biological data. In information technology, biometrics refers to technologies that measure and analyze human body characteristics, such as DNA, fingerprints, eye retinas and irises, voice patterns, facial patterns and hand measurements, for authentication purposes. In this paper we have used thumb impression for the purpose of voter identification or authentication. As the thumb impression of every individual is unique, it helps in maximizing the accuracy. A database is created containing the face images of all the voters in the constituency. Illegal votes and repetition of votes is checked for in this system. Hence if this system is employed the elections would be fair and free from rigging. Thanks to this system that conducting elections would no longer be a tedious and expensive job.</a:t>
            </a:r>
            <a:endParaRPr lang="en-IN" sz="1800" dirty="0"/>
          </a:p>
          <a:p>
            <a:endParaRPr lang="en-IN" dirty="0"/>
          </a:p>
        </p:txBody>
      </p:sp>
    </p:spTree>
    <p:extLst>
      <p:ext uri="{BB962C8B-B14F-4D97-AF65-F5344CB8AC3E}">
        <p14:creationId xmlns:p14="http://schemas.microsoft.com/office/powerpoint/2010/main" val="3718446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EXISTING METHOD</a:t>
            </a:r>
          </a:p>
        </p:txBody>
      </p:sp>
      <p:sp>
        <p:nvSpPr>
          <p:cNvPr id="3" name="Content Placeholder 2"/>
          <p:cNvSpPr>
            <a:spLocks noGrp="1"/>
          </p:cNvSpPr>
          <p:nvPr>
            <p:ph idx="1"/>
          </p:nvPr>
        </p:nvSpPr>
        <p:spPr/>
        <p:txBody>
          <a:bodyPr>
            <a:normAutofit/>
          </a:bodyPr>
          <a:lstStyle/>
          <a:p>
            <a:r>
              <a:rPr lang="en-US" dirty="0"/>
              <a:t>Electronic Voting Machine(EVM) which is currently in use :</a:t>
            </a:r>
            <a:endParaRPr lang="en-IN" dirty="0"/>
          </a:p>
          <a:p>
            <a:pPr lvl="0"/>
            <a:r>
              <a:rPr lang="en-US" dirty="0"/>
              <a:t>Security Problems - One can change the program installed in the EVM and tamper the results after the polling. By replacing a small part of the machine with a look-alike component that can be silently instructed to steal a percentage of the votes in favor of a chosen candidate. These instructions can be sent wirelessly from a mobile phone.</a:t>
            </a:r>
            <a:endParaRPr lang="en-IN" dirty="0"/>
          </a:p>
          <a:p>
            <a:pPr lvl="0"/>
            <a:r>
              <a:rPr lang="en-US" dirty="0"/>
              <a:t>Illegal Voting (Rigging) - The very commonly known problem, Rigging which is faced in every electoral procedure. One candidate casts the votes of all the members or few amounts of members in the electoral list illegally. This results in the loss of votes for the other candidates participating and also increases the number votes to the candidate who performs this action. This can be done externally at the time of voting.</a:t>
            </a:r>
            <a:endParaRPr lang="en-IN" dirty="0"/>
          </a:p>
          <a:p>
            <a:endParaRPr lang="en-IN" dirty="0"/>
          </a:p>
        </p:txBody>
      </p:sp>
    </p:spTree>
    <p:extLst>
      <p:ext uri="{BB962C8B-B14F-4D97-AF65-F5344CB8AC3E}">
        <p14:creationId xmlns:p14="http://schemas.microsoft.com/office/powerpoint/2010/main" val="1750659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PROBLEM IDENTIFICATION IN PROPOSED SYSTEM</a:t>
            </a:r>
            <a:br>
              <a:rPr lang="en-IN" dirty="0"/>
            </a:br>
            <a:endParaRPr lang="en-IN" dirty="0"/>
          </a:p>
        </p:txBody>
      </p:sp>
      <p:sp>
        <p:nvSpPr>
          <p:cNvPr id="3" name="Content Placeholder 2"/>
          <p:cNvSpPr>
            <a:spLocks noGrp="1"/>
          </p:cNvSpPr>
          <p:nvPr>
            <p:ph idx="1"/>
          </p:nvPr>
        </p:nvSpPr>
        <p:spPr/>
        <p:txBody>
          <a:bodyPr>
            <a:normAutofit/>
          </a:bodyPr>
          <a:lstStyle/>
          <a:p>
            <a:pPr algn="just"/>
            <a:r>
              <a:rPr lang="en-US" sz="2000" dirty="0"/>
              <a:t>The aim of working on the Finger print sensor and face recognition system  is to develop a  system with increased Performance and accuracy .</a:t>
            </a:r>
          </a:p>
          <a:p>
            <a:pPr algn="just"/>
            <a:r>
              <a:rPr lang="en-US" sz="2000" dirty="0"/>
              <a:t>A biometric system is essentially a pattern recognition system that operates by acquiring biometric data from an individual, extracting a feature set from the acquired data, and comparing this feature set against the template set in the database. </a:t>
            </a:r>
          </a:p>
          <a:p>
            <a:pPr algn="just"/>
            <a:r>
              <a:rPr lang="en-US" sz="2000" dirty="0"/>
              <a:t>Finger print </a:t>
            </a:r>
            <a:r>
              <a:rPr lang="en-US" altLang="en-US" sz="2000" dirty="0"/>
              <a:t>recognition is that it is not affected by dryness or roughness of skin or by physical injury on surface of the hand but sometimes the temperature and humidity can affect the quality of the captured image</a:t>
            </a:r>
            <a:endParaRPr lang="en-IN" sz="2000" dirty="0"/>
          </a:p>
        </p:txBody>
      </p:sp>
    </p:spTree>
    <p:extLst>
      <p:ext uri="{BB962C8B-B14F-4D97-AF65-F5344CB8AC3E}">
        <p14:creationId xmlns:p14="http://schemas.microsoft.com/office/powerpoint/2010/main" val="3983457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04900" y="2111896"/>
            <a:ext cx="1600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000" b="1" dirty="0">
                <a:cs typeface="Aharoni" pitchFamily="2" charset="-79"/>
              </a:rPr>
              <a:t>Power </a:t>
            </a:r>
          </a:p>
          <a:p>
            <a:pPr algn="ctr" fontAlgn="auto">
              <a:spcBef>
                <a:spcPts val="0"/>
              </a:spcBef>
              <a:spcAft>
                <a:spcPts val="0"/>
              </a:spcAft>
              <a:defRPr/>
            </a:pPr>
            <a:r>
              <a:rPr lang="en-US" sz="2000" b="1" dirty="0">
                <a:cs typeface="Aharoni" pitchFamily="2" charset="-79"/>
              </a:rPr>
              <a:t>supply</a:t>
            </a:r>
          </a:p>
        </p:txBody>
      </p:sp>
      <p:sp>
        <p:nvSpPr>
          <p:cNvPr id="16" name="Rectangle 15"/>
          <p:cNvSpPr/>
          <p:nvPr/>
        </p:nvSpPr>
        <p:spPr>
          <a:xfrm>
            <a:off x="4076700" y="2056656"/>
            <a:ext cx="1524000" cy="3460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400" dirty="0">
                <a:latin typeface="Aharoni" pitchFamily="2" charset="-79"/>
                <a:cs typeface="Aharoni" pitchFamily="2" charset="-79"/>
              </a:rPr>
              <a:t>MICRO</a:t>
            </a:r>
          </a:p>
          <a:p>
            <a:pPr algn="ctr" fontAlgn="auto">
              <a:spcBef>
                <a:spcPts val="0"/>
              </a:spcBef>
              <a:spcAft>
                <a:spcPts val="0"/>
              </a:spcAft>
              <a:defRPr/>
            </a:pPr>
            <a:r>
              <a:rPr lang="en-US" sz="1400" dirty="0">
                <a:latin typeface="Aharoni" pitchFamily="2" charset="-79"/>
                <a:cs typeface="Aharoni" pitchFamily="2" charset="-79"/>
              </a:rPr>
              <a:t>CONTROLLER</a:t>
            </a:r>
          </a:p>
          <a:p>
            <a:pPr algn="ctr" fontAlgn="auto">
              <a:spcBef>
                <a:spcPts val="0"/>
              </a:spcBef>
              <a:spcAft>
                <a:spcPts val="0"/>
              </a:spcAft>
              <a:defRPr/>
            </a:pPr>
            <a:r>
              <a:rPr lang="en-US" sz="1400" dirty="0">
                <a:latin typeface="Aharoni" pitchFamily="2" charset="-79"/>
                <a:cs typeface="Aharoni" pitchFamily="2" charset="-79"/>
              </a:rPr>
              <a:t>OR</a:t>
            </a:r>
          </a:p>
          <a:p>
            <a:pPr algn="ctr" fontAlgn="auto">
              <a:spcBef>
                <a:spcPts val="0"/>
              </a:spcBef>
              <a:spcAft>
                <a:spcPts val="0"/>
              </a:spcAft>
              <a:defRPr/>
            </a:pPr>
            <a:r>
              <a:rPr lang="en-US" sz="1400" dirty="0">
                <a:latin typeface="Aharoni" pitchFamily="2" charset="-79"/>
                <a:cs typeface="Aharoni" pitchFamily="2" charset="-79"/>
              </a:rPr>
              <a:t>COMPUTER</a:t>
            </a:r>
          </a:p>
        </p:txBody>
      </p:sp>
      <p:sp>
        <p:nvSpPr>
          <p:cNvPr id="17" name="Up Arrow 16"/>
          <p:cNvSpPr/>
          <p:nvPr/>
        </p:nvSpPr>
        <p:spPr>
          <a:xfrm rot="5400000">
            <a:off x="3215481" y="2134915"/>
            <a:ext cx="350838" cy="1371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7" name="Rectangle 26"/>
          <p:cNvSpPr/>
          <p:nvPr/>
        </p:nvSpPr>
        <p:spPr>
          <a:xfrm>
            <a:off x="6286500" y="2645296"/>
            <a:ext cx="1828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LCD DISPLAY</a:t>
            </a:r>
          </a:p>
        </p:txBody>
      </p:sp>
      <p:sp>
        <p:nvSpPr>
          <p:cNvPr id="28" name="Down Arrow 27"/>
          <p:cNvSpPr/>
          <p:nvPr/>
        </p:nvSpPr>
        <p:spPr>
          <a:xfrm rot="16200000">
            <a:off x="5715000" y="2607196"/>
            <a:ext cx="457200" cy="68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Up Arrow 19"/>
          <p:cNvSpPr/>
          <p:nvPr/>
        </p:nvSpPr>
        <p:spPr>
          <a:xfrm rot="5400000">
            <a:off x="3215481" y="3049315"/>
            <a:ext cx="350838" cy="1371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2" name="Rectangle 21"/>
          <p:cNvSpPr/>
          <p:nvPr/>
        </p:nvSpPr>
        <p:spPr>
          <a:xfrm>
            <a:off x="1104900" y="3331096"/>
            <a:ext cx="1600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cs typeface="Aharoni" pitchFamily="2" charset="-79"/>
              </a:rPr>
              <a:t>FINGER PRINT SENSOR</a:t>
            </a:r>
          </a:p>
        </p:txBody>
      </p:sp>
      <p:sp>
        <p:nvSpPr>
          <p:cNvPr id="2" name="Rectangle 1"/>
          <p:cNvSpPr/>
          <p:nvPr/>
        </p:nvSpPr>
        <p:spPr>
          <a:xfrm>
            <a:off x="2356338" y="784913"/>
            <a:ext cx="4572000" cy="461665"/>
          </a:xfrm>
          <a:prstGeom prst="rect">
            <a:avLst/>
          </a:prstGeom>
        </p:spPr>
        <p:txBody>
          <a:bodyPr>
            <a:spAutoFit/>
          </a:bodyPr>
          <a:lstStyle/>
          <a:p>
            <a:r>
              <a:rPr lang="en-IN" sz="2400" b="1" dirty="0"/>
              <a:t>BLOCK DIAGRAM</a:t>
            </a:r>
          </a:p>
        </p:txBody>
      </p:sp>
      <p:sp>
        <p:nvSpPr>
          <p:cNvPr id="10" name="Up Arrow 19">
            <a:extLst>
              <a:ext uri="{FF2B5EF4-FFF2-40B4-BE49-F238E27FC236}">
                <a16:creationId xmlns:a16="http://schemas.microsoft.com/office/drawing/2014/main" id="{995A46C2-1B23-4DF0-A97C-8E57CC7F3CF5}"/>
              </a:ext>
            </a:extLst>
          </p:cNvPr>
          <p:cNvSpPr/>
          <p:nvPr/>
        </p:nvSpPr>
        <p:spPr>
          <a:xfrm rot="5400000">
            <a:off x="3215481" y="4210232"/>
            <a:ext cx="350838" cy="1371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015D6EA7-E054-4944-AB96-9F59601A8897}"/>
              </a:ext>
            </a:extLst>
          </p:cNvPr>
          <p:cNvSpPr/>
          <p:nvPr/>
        </p:nvSpPr>
        <p:spPr>
          <a:xfrm>
            <a:off x="1104900" y="4550296"/>
            <a:ext cx="1600200" cy="7509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cs typeface="Aharoni" pitchFamily="2" charset="-79"/>
              </a:rPr>
              <a:t>RS232</a:t>
            </a:r>
          </a:p>
        </p:txBody>
      </p:sp>
      <p:sp>
        <p:nvSpPr>
          <p:cNvPr id="12" name="Up Arrow 19">
            <a:extLst>
              <a:ext uri="{FF2B5EF4-FFF2-40B4-BE49-F238E27FC236}">
                <a16:creationId xmlns:a16="http://schemas.microsoft.com/office/drawing/2014/main" id="{E7A531A7-A84A-41E3-B3F9-87B7003AE472}"/>
              </a:ext>
            </a:extLst>
          </p:cNvPr>
          <p:cNvSpPr/>
          <p:nvPr/>
        </p:nvSpPr>
        <p:spPr>
          <a:xfrm rot="16200000">
            <a:off x="3056947" y="5647878"/>
            <a:ext cx="350838" cy="109509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a:extLst>
              <a:ext uri="{FF2B5EF4-FFF2-40B4-BE49-F238E27FC236}">
                <a16:creationId xmlns:a16="http://schemas.microsoft.com/office/drawing/2014/main" id="{7E852CD8-C501-4500-A769-F4477CD1824E}"/>
              </a:ext>
            </a:extLst>
          </p:cNvPr>
          <p:cNvSpPr/>
          <p:nvPr/>
        </p:nvSpPr>
        <p:spPr>
          <a:xfrm>
            <a:off x="1084619" y="5700125"/>
            <a:ext cx="1600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cs typeface="Aharoni" pitchFamily="2" charset="-79"/>
              </a:rPr>
              <a:t>CAMERA</a:t>
            </a:r>
          </a:p>
        </p:txBody>
      </p:sp>
      <p:sp>
        <p:nvSpPr>
          <p:cNvPr id="14" name="Up Arrow 19">
            <a:extLst>
              <a:ext uri="{FF2B5EF4-FFF2-40B4-BE49-F238E27FC236}">
                <a16:creationId xmlns:a16="http://schemas.microsoft.com/office/drawing/2014/main" id="{54046118-D08C-41A7-8FF5-A2CD37E38353}"/>
              </a:ext>
            </a:extLst>
          </p:cNvPr>
          <p:cNvSpPr/>
          <p:nvPr/>
        </p:nvSpPr>
        <p:spPr>
          <a:xfrm>
            <a:off x="1709300" y="5301208"/>
            <a:ext cx="350838" cy="38087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9" name="Rectangle 18">
            <a:extLst>
              <a:ext uri="{FF2B5EF4-FFF2-40B4-BE49-F238E27FC236}">
                <a16:creationId xmlns:a16="http://schemas.microsoft.com/office/drawing/2014/main" id="{6B8D3D42-0C35-4F9A-84EB-19340061203E}"/>
              </a:ext>
            </a:extLst>
          </p:cNvPr>
          <p:cNvSpPr/>
          <p:nvPr/>
        </p:nvSpPr>
        <p:spPr>
          <a:xfrm>
            <a:off x="3779913" y="5903573"/>
            <a:ext cx="1339051" cy="6397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cs typeface="Aharoni" pitchFamily="2" charset="-79"/>
              </a:rPr>
              <a:t>PC</a:t>
            </a:r>
          </a:p>
        </p:txBody>
      </p:sp>
      <p:sp>
        <p:nvSpPr>
          <p:cNvPr id="21" name="Rectangle 20">
            <a:extLst>
              <a:ext uri="{FF2B5EF4-FFF2-40B4-BE49-F238E27FC236}">
                <a16:creationId xmlns:a16="http://schemas.microsoft.com/office/drawing/2014/main" id="{A8233FB4-8526-47CE-9868-2B0CCE0E71DE}"/>
              </a:ext>
            </a:extLst>
          </p:cNvPr>
          <p:cNvSpPr/>
          <p:nvPr/>
        </p:nvSpPr>
        <p:spPr>
          <a:xfrm>
            <a:off x="6286500" y="4321696"/>
            <a:ext cx="1828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CAPACITIVE TOUCH PAD</a:t>
            </a:r>
          </a:p>
        </p:txBody>
      </p:sp>
      <p:sp>
        <p:nvSpPr>
          <p:cNvPr id="23" name="Down Arrow 27">
            <a:extLst>
              <a:ext uri="{FF2B5EF4-FFF2-40B4-BE49-F238E27FC236}">
                <a16:creationId xmlns:a16="http://schemas.microsoft.com/office/drawing/2014/main" id="{21475CF3-7AA1-4502-BEF7-54F196D0E9C5}"/>
              </a:ext>
            </a:extLst>
          </p:cNvPr>
          <p:cNvSpPr/>
          <p:nvPr/>
        </p:nvSpPr>
        <p:spPr>
          <a:xfrm rot="5400000">
            <a:off x="5715000" y="4283596"/>
            <a:ext cx="457200" cy="68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6393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HARDWARE</a:t>
            </a:r>
            <a:br>
              <a:rPr lang="en-IN" dirty="0"/>
            </a:br>
            <a:endParaRPr lang="en-IN" dirty="0"/>
          </a:p>
        </p:txBody>
      </p:sp>
      <p:sp>
        <p:nvSpPr>
          <p:cNvPr id="3" name="Content Placeholder 2"/>
          <p:cNvSpPr>
            <a:spLocks noGrp="1"/>
          </p:cNvSpPr>
          <p:nvPr>
            <p:ph idx="1"/>
          </p:nvPr>
        </p:nvSpPr>
        <p:spPr/>
        <p:txBody>
          <a:bodyPr/>
          <a:lstStyle/>
          <a:p>
            <a:pPr marL="114300" indent="0">
              <a:buNone/>
            </a:pPr>
            <a:endParaRPr lang="en-IN" dirty="0"/>
          </a:p>
          <a:p>
            <a:pPr lvl="0"/>
            <a:r>
              <a:rPr lang="en-US" dirty="0"/>
              <a:t>Power supply unit</a:t>
            </a:r>
            <a:endParaRPr lang="en-IN" dirty="0"/>
          </a:p>
          <a:p>
            <a:pPr lvl="0"/>
            <a:r>
              <a:rPr lang="en-US" dirty="0"/>
              <a:t>Fingerprint sensor</a:t>
            </a:r>
          </a:p>
          <a:p>
            <a:pPr lvl="0"/>
            <a:r>
              <a:rPr lang="en-US" dirty="0"/>
              <a:t>Microcontroller [</a:t>
            </a:r>
            <a:r>
              <a:rPr lang="en-US" dirty="0" err="1"/>
              <a:t>ATmega</a:t>
            </a:r>
            <a:r>
              <a:rPr lang="en-US" dirty="0"/>
              <a:t> 8A]</a:t>
            </a:r>
            <a:endParaRPr lang="en-IN" dirty="0"/>
          </a:p>
          <a:p>
            <a:pPr lvl="0"/>
            <a:r>
              <a:rPr lang="en-US" dirty="0"/>
              <a:t>RS 232</a:t>
            </a:r>
          </a:p>
          <a:p>
            <a:pPr lvl="0"/>
            <a:r>
              <a:rPr lang="en-US" dirty="0"/>
              <a:t>16</a:t>
            </a:r>
            <a:r>
              <a:rPr lang="en-IN" dirty="0"/>
              <a:t>*2 LCD DISPLAY</a:t>
            </a:r>
          </a:p>
          <a:p>
            <a:pPr lvl="0"/>
            <a:r>
              <a:rPr lang="en-IN" dirty="0"/>
              <a:t>Capacitive touch pad </a:t>
            </a:r>
          </a:p>
          <a:p>
            <a:pPr lvl="0"/>
            <a:r>
              <a:rPr lang="en-IN" dirty="0"/>
              <a:t>Push buttons</a:t>
            </a:r>
          </a:p>
          <a:p>
            <a:pPr lvl="0"/>
            <a:r>
              <a:rPr lang="en-IN" dirty="0"/>
              <a:t>Led indication</a:t>
            </a:r>
          </a:p>
          <a:p>
            <a:pPr lvl="0"/>
            <a:endParaRPr lang="en-US" dirty="0"/>
          </a:p>
        </p:txBody>
      </p:sp>
    </p:spTree>
    <p:extLst>
      <p:ext uri="{BB962C8B-B14F-4D97-AF65-F5344CB8AC3E}">
        <p14:creationId xmlns:p14="http://schemas.microsoft.com/office/powerpoint/2010/main" val="1591615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BBA21-CF2A-4CA3-B909-961FA2374A96}"/>
              </a:ext>
            </a:extLst>
          </p:cNvPr>
          <p:cNvSpPr>
            <a:spLocks noGrp="1"/>
          </p:cNvSpPr>
          <p:nvPr>
            <p:ph type="title"/>
          </p:nvPr>
        </p:nvSpPr>
        <p:spPr/>
        <p:txBody>
          <a:bodyPr>
            <a:normAutofit fontScale="90000"/>
          </a:bodyPr>
          <a:lstStyle/>
          <a:p>
            <a:br>
              <a:rPr lang="en-US" sz="4800" b="1" dirty="0">
                <a:latin typeface="Times New Roman" panose="02020603050405020304" pitchFamily="18" charset="0"/>
                <a:ea typeface="Calibri" panose="020F0502020204030204" pitchFamily="34" charset="0"/>
                <a:cs typeface="Latha" panose="020B0604020202020204" pitchFamily="34" charset="0"/>
              </a:rPr>
            </a:br>
            <a:r>
              <a:rPr lang="en-US" sz="4800" b="1" dirty="0">
                <a:effectLst/>
                <a:latin typeface="Times New Roman" panose="02020603050405020304" pitchFamily="18" charset="0"/>
                <a:ea typeface="Calibri" panose="020F0502020204030204" pitchFamily="34" charset="0"/>
                <a:cs typeface="Latha" panose="020B0604020202020204" pitchFamily="34" charset="0"/>
              </a:rPr>
              <a:t> SOFTWARE</a:t>
            </a:r>
            <a:br>
              <a:rPr lang="en-IN" sz="4800" dirty="0">
                <a:effectLst/>
                <a:latin typeface="Calibri" panose="020F0502020204030204" pitchFamily="34" charset="0"/>
                <a:ea typeface="Calibri" panose="020F0502020204030204" pitchFamily="34" charset="0"/>
                <a:cs typeface="Latha" panose="020B0604020202020204" pitchFamily="34" charset="0"/>
              </a:rPr>
            </a:br>
            <a:endParaRPr lang="en-IN" dirty="0"/>
          </a:p>
        </p:txBody>
      </p:sp>
      <p:sp>
        <p:nvSpPr>
          <p:cNvPr id="3" name="Content Placeholder 2">
            <a:extLst>
              <a:ext uri="{FF2B5EF4-FFF2-40B4-BE49-F238E27FC236}">
                <a16:creationId xmlns:a16="http://schemas.microsoft.com/office/drawing/2014/main" id="{84356074-7C8D-4F73-847A-F835903CAD24}"/>
              </a:ext>
            </a:extLst>
          </p:cNvPr>
          <p:cNvSpPr>
            <a:spLocks noGrp="1"/>
          </p:cNvSpPr>
          <p:nvPr>
            <p:ph idx="1"/>
          </p:nvPr>
        </p:nvSpPr>
        <p:spPr/>
        <p:txBody>
          <a:bodyPr/>
          <a:lstStyle/>
          <a:p>
            <a:pPr marL="342900" lvl="0" indent="-342900">
              <a:lnSpc>
                <a:spcPct val="115000"/>
              </a:lnSpc>
              <a:spcAft>
                <a:spcPts val="1000"/>
              </a:spcAft>
              <a:buFont typeface="Wingdings" panose="05000000000000000000" pitchFamily="2" charset="2"/>
              <a:buChar char=""/>
              <a:tabLst>
                <a:tab pos="457200" algn="l"/>
              </a:tabLst>
            </a:pPr>
            <a:r>
              <a:rPr lang="en-US" sz="1800" dirty="0">
                <a:effectLst/>
                <a:latin typeface="Times New Roman" panose="02020603050405020304" pitchFamily="18" charset="0"/>
                <a:ea typeface="Calibri" panose="020F0502020204030204" pitchFamily="34" charset="0"/>
                <a:cs typeface="Latha" panose="020B0604020202020204" pitchFamily="34" charset="0"/>
              </a:rPr>
              <a:t>Mat lab 8.1 </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15000"/>
              </a:lnSpc>
              <a:spcAft>
                <a:spcPts val="1000"/>
              </a:spcAft>
              <a:buFont typeface="Wingdings" panose="05000000000000000000" pitchFamily="2" charset="2"/>
              <a:buChar char=""/>
              <a:tabLst>
                <a:tab pos="457200" algn="l"/>
              </a:tabLst>
            </a:pPr>
            <a:r>
              <a:rPr lang="en-US" sz="1800" dirty="0">
                <a:effectLst/>
                <a:latin typeface="Times New Roman" panose="02020603050405020304" pitchFamily="18" charset="0"/>
                <a:ea typeface="Calibri" panose="020F0502020204030204" pitchFamily="34" charset="0"/>
                <a:cs typeface="Latha" panose="020B0604020202020204" pitchFamily="34" charset="0"/>
              </a:rPr>
              <a:t>Platform - AVR STUDIO </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15000"/>
              </a:lnSpc>
              <a:spcAft>
                <a:spcPts val="1000"/>
              </a:spcAft>
              <a:buFont typeface="Wingdings" panose="05000000000000000000" pitchFamily="2" charset="2"/>
              <a:buChar char=""/>
              <a:tabLst>
                <a:tab pos="457200" algn="l"/>
              </a:tabLst>
            </a:pPr>
            <a:r>
              <a:rPr lang="en-US" sz="1800" dirty="0">
                <a:effectLst/>
                <a:latin typeface="Times New Roman" panose="02020603050405020304" pitchFamily="18" charset="0"/>
                <a:ea typeface="Calibri" panose="020F0502020204030204" pitchFamily="34" charset="0"/>
                <a:cs typeface="Latha" panose="020B0604020202020204" pitchFamily="34" charset="0"/>
              </a:rPr>
              <a:t>In System Programmer - </a:t>
            </a:r>
            <a:r>
              <a:rPr lang="en-US" sz="1800" dirty="0" err="1">
                <a:effectLst/>
                <a:latin typeface="Times New Roman" panose="02020603050405020304" pitchFamily="18" charset="0"/>
                <a:ea typeface="Calibri" panose="020F0502020204030204" pitchFamily="34" charset="0"/>
                <a:cs typeface="Latha" panose="020B0604020202020204" pitchFamily="34" charset="0"/>
              </a:rPr>
              <a:t>ProgISP</a:t>
            </a:r>
            <a:r>
              <a:rPr lang="en-US" sz="1800" dirty="0">
                <a:effectLst/>
                <a:latin typeface="Times New Roman" panose="02020603050405020304" pitchFamily="18" charset="0"/>
                <a:ea typeface="Calibri" panose="020F0502020204030204" pitchFamily="34" charset="0"/>
                <a:cs typeface="Latha" panose="020B0604020202020204" pitchFamily="34" charset="0"/>
              </a:rPr>
              <a:t> 172</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15000"/>
              </a:lnSpc>
              <a:spcAft>
                <a:spcPts val="1000"/>
              </a:spcAft>
              <a:buFont typeface="Wingdings" panose="05000000000000000000" pitchFamily="2" charset="2"/>
              <a:buChar char=""/>
              <a:tabLst>
                <a:tab pos="457200" algn="l"/>
              </a:tabLst>
            </a:pPr>
            <a:r>
              <a:rPr lang="en-US" sz="1800" dirty="0">
                <a:effectLst/>
                <a:latin typeface="Times New Roman" panose="02020603050405020304" pitchFamily="18" charset="0"/>
                <a:ea typeface="Calibri" panose="020F0502020204030204" pitchFamily="34" charset="0"/>
                <a:cs typeface="Latha" panose="020B0604020202020204" pitchFamily="34" charset="0"/>
              </a:rPr>
              <a:t>Compiler – Win AVR</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endParaRPr lang="en-IN" dirty="0"/>
          </a:p>
        </p:txBody>
      </p:sp>
    </p:spTree>
    <p:extLst>
      <p:ext uri="{BB962C8B-B14F-4D97-AF65-F5344CB8AC3E}">
        <p14:creationId xmlns:p14="http://schemas.microsoft.com/office/powerpoint/2010/main" val="2605168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286000"/>
            <a:ext cx="7724775" cy="36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685" name="Rectangle 5"/>
          <p:cNvSpPr>
            <a:spLocks noGrp="1" noChangeArrowheads="1"/>
          </p:cNvSpPr>
          <p:nvPr>
            <p:ph type="title"/>
          </p:nvPr>
        </p:nvSpPr>
        <p:spPr/>
        <p:txBody>
          <a:bodyPr/>
          <a:lstStyle/>
          <a:p>
            <a:r>
              <a:rPr lang="en-US" altLang="en-US" sz="5400"/>
              <a:t>Fingerprint Sensors</a:t>
            </a:r>
          </a:p>
        </p:txBody>
      </p:sp>
    </p:spTree>
    <p:extLst>
      <p:ext uri="{BB962C8B-B14F-4D97-AF65-F5344CB8AC3E}">
        <p14:creationId xmlns:p14="http://schemas.microsoft.com/office/powerpoint/2010/main" val="3343402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50" name="Picture 6" descr="vr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362200"/>
            <a:ext cx="2971800" cy="3886200"/>
          </a:xfrm>
          <a:prstGeom prst="rect">
            <a:avLst/>
          </a:prstGeom>
          <a:noFill/>
          <a:extLst>
            <a:ext uri="{909E8E84-426E-40DD-AFC4-6F175D3DCCD1}">
              <a14:hiddenFill xmlns:a14="http://schemas.microsoft.com/office/drawing/2010/main">
                <a:solidFill>
                  <a:srgbClr val="FFFFFF"/>
                </a:solidFill>
              </a14:hiddenFill>
            </a:ext>
          </a:extLst>
        </p:spPr>
      </p:pic>
      <p:sp>
        <p:nvSpPr>
          <p:cNvPr id="31752" name="Text Box 8"/>
          <p:cNvSpPr txBox="1">
            <a:spLocks noChangeArrowheads="1"/>
          </p:cNvSpPr>
          <p:nvPr/>
        </p:nvSpPr>
        <p:spPr bwMode="auto">
          <a:xfrm>
            <a:off x="3962400" y="2514600"/>
            <a:ext cx="5029200" cy="370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itchFamily="18" charset="0"/>
              </a:defRPr>
            </a:lvl1pPr>
            <a:lvl2pPr marL="914400" indent="-457200">
              <a:defRPr sz="2400">
                <a:solidFill>
                  <a:schemeClr val="tx1"/>
                </a:solidFill>
                <a:latin typeface="Times New Roman" pitchFamily="18" charset="0"/>
              </a:defRPr>
            </a:lvl2pPr>
            <a:lvl3pPr marL="1371600" indent="-457200">
              <a:defRPr sz="2400">
                <a:solidFill>
                  <a:schemeClr val="tx1"/>
                </a:solidFill>
                <a:latin typeface="Times New Roman" pitchFamily="18" charset="0"/>
              </a:defRPr>
            </a:lvl3pPr>
            <a:lvl4pPr marL="1828800" indent="-457200">
              <a:defRPr sz="2400">
                <a:solidFill>
                  <a:schemeClr val="tx1"/>
                </a:solidFill>
                <a:latin typeface="Times New Roman" pitchFamily="18" charset="0"/>
              </a:defRPr>
            </a:lvl4pPr>
            <a:lvl5pPr marL="2286000" indent="-457200">
              <a:defRPr sz="2400">
                <a:solidFill>
                  <a:schemeClr val="tx1"/>
                </a:solidFill>
                <a:latin typeface="Times New Roman" pitchFamily="18" charset="0"/>
              </a:defRPr>
            </a:lvl5pPr>
            <a:lvl6pPr marL="2743200" indent="-457200" fontAlgn="base">
              <a:spcBef>
                <a:spcPct val="0"/>
              </a:spcBef>
              <a:spcAft>
                <a:spcPct val="0"/>
              </a:spcAft>
              <a:defRPr sz="2400">
                <a:solidFill>
                  <a:schemeClr val="tx1"/>
                </a:solidFill>
                <a:latin typeface="Times New Roman" pitchFamily="18" charset="0"/>
              </a:defRPr>
            </a:lvl6pPr>
            <a:lvl7pPr marL="3200400" indent="-457200" fontAlgn="base">
              <a:spcBef>
                <a:spcPct val="0"/>
              </a:spcBef>
              <a:spcAft>
                <a:spcPct val="0"/>
              </a:spcAft>
              <a:defRPr sz="2400">
                <a:solidFill>
                  <a:schemeClr val="tx1"/>
                </a:solidFill>
                <a:latin typeface="Times New Roman" pitchFamily="18" charset="0"/>
              </a:defRPr>
            </a:lvl7pPr>
            <a:lvl8pPr marL="3657600" indent="-457200" fontAlgn="base">
              <a:spcBef>
                <a:spcPct val="0"/>
              </a:spcBef>
              <a:spcAft>
                <a:spcPct val="0"/>
              </a:spcAft>
              <a:defRPr sz="2400">
                <a:solidFill>
                  <a:schemeClr val="tx1"/>
                </a:solidFill>
                <a:latin typeface="Times New Roman" pitchFamily="18" charset="0"/>
              </a:defRPr>
            </a:lvl8pPr>
            <a:lvl9pPr marL="4114800" indent="-457200" fontAlgn="base">
              <a:spcBef>
                <a:spcPct val="0"/>
              </a:spcBef>
              <a:spcAft>
                <a:spcPct val="0"/>
              </a:spcAft>
              <a:defRPr sz="2400">
                <a:solidFill>
                  <a:schemeClr val="tx1"/>
                </a:solidFill>
                <a:latin typeface="Times New Roman" pitchFamily="18" charset="0"/>
              </a:defRPr>
            </a:lvl9pPr>
          </a:lstStyle>
          <a:p>
            <a:r>
              <a:rPr lang="en-US" altLang="en-US" sz="1400">
                <a:latin typeface="Bookman Old Style" pitchFamily="18" charset="0"/>
              </a:rPr>
              <a:t>Fingerprint recognition is one of the oldest and most </a:t>
            </a:r>
          </a:p>
          <a:p>
            <a:r>
              <a:rPr lang="en-US" altLang="en-US" sz="1400">
                <a:latin typeface="Bookman Old Style" pitchFamily="18" charset="0"/>
              </a:rPr>
              <a:t>researched fields of biometrics. </a:t>
            </a:r>
          </a:p>
          <a:p>
            <a:endParaRPr lang="en-US" altLang="en-US" sz="1400" b="1">
              <a:solidFill>
                <a:schemeClr val="folHlink"/>
              </a:solidFill>
              <a:latin typeface="Bookman Old Style" pitchFamily="18" charset="0"/>
            </a:endParaRPr>
          </a:p>
          <a:p>
            <a:r>
              <a:rPr lang="en-US" altLang="en-US" sz="1400" b="1">
                <a:solidFill>
                  <a:schemeClr val="folHlink"/>
                </a:solidFill>
                <a:latin typeface="Bookman Old Style" pitchFamily="18" charset="0"/>
              </a:rPr>
              <a:t>Some biological principles (Moenssens 1971) related </a:t>
            </a:r>
          </a:p>
          <a:p>
            <a:r>
              <a:rPr lang="en-US" altLang="en-US" sz="1400" b="1">
                <a:solidFill>
                  <a:schemeClr val="folHlink"/>
                </a:solidFill>
                <a:latin typeface="Bookman Old Style" pitchFamily="18" charset="0"/>
              </a:rPr>
              <a:t>to fingerprint recognition are as follows:</a:t>
            </a:r>
          </a:p>
          <a:p>
            <a:endParaRPr lang="en-US" altLang="en-US" sz="1400" b="1">
              <a:solidFill>
                <a:schemeClr val="folHlink"/>
              </a:solidFill>
              <a:latin typeface="Bookman Old Style" pitchFamily="18" charset="0"/>
            </a:endParaRPr>
          </a:p>
          <a:p>
            <a:pPr>
              <a:buFontTx/>
              <a:buChar char="•"/>
            </a:pPr>
            <a:r>
              <a:rPr lang="en-US" altLang="en-US" sz="1400">
                <a:latin typeface="Bookman Old Style" pitchFamily="18" charset="0"/>
              </a:rPr>
              <a:t>Individual epidermal ridges and furrows have different characteristics for different fingerprints.</a:t>
            </a:r>
          </a:p>
          <a:p>
            <a:r>
              <a:rPr lang="en-US" altLang="en-US" sz="1400">
                <a:latin typeface="Bookman Old Style" pitchFamily="18" charset="0"/>
              </a:rPr>
              <a:t>	This forms the foundation of </a:t>
            </a:r>
            <a:r>
              <a:rPr lang="en-US" altLang="en-US" sz="1400" b="1">
                <a:solidFill>
                  <a:schemeClr val="folHlink"/>
                </a:solidFill>
                <a:latin typeface="Bookman Old Style" pitchFamily="18" charset="0"/>
              </a:rPr>
              <a:t>fingerprint recognition</a:t>
            </a:r>
            <a:r>
              <a:rPr lang="en-US" altLang="en-US" sz="1400">
                <a:latin typeface="Bookman Old Style" pitchFamily="18" charset="0"/>
              </a:rPr>
              <a:t> </a:t>
            </a:r>
          </a:p>
          <a:p>
            <a:pPr>
              <a:buFontTx/>
              <a:buChar char="•"/>
            </a:pPr>
            <a:r>
              <a:rPr lang="en-US" altLang="en-US" sz="1400">
                <a:latin typeface="Bookman Old Style" pitchFamily="18" charset="0"/>
              </a:rPr>
              <a:t>The configuration types are individually variable; but they vary within limits that allow for a systematic classification.</a:t>
            </a:r>
          </a:p>
          <a:p>
            <a:r>
              <a:rPr lang="en-US" altLang="en-US" sz="1400">
                <a:latin typeface="Bookman Old Style" pitchFamily="18" charset="0"/>
              </a:rPr>
              <a:t>	Herein lies the basis for </a:t>
            </a:r>
            <a:r>
              <a:rPr lang="en-US" altLang="en-US" sz="1400" b="1">
                <a:solidFill>
                  <a:schemeClr val="folHlink"/>
                </a:solidFill>
                <a:latin typeface="Bookman Old Style" pitchFamily="18" charset="0"/>
              </a:rPr>
              <a:t>fingerprint classification</a:t>
            </a:r>
            <a:r>
              <a:rPr lang="en-US" altLang="en-US" sz="1400">
                <a:latin typeface="Bookman Old Style" pitchFamily="18" charset="0"/>
              </a:rPr>
              <a:t>.</a:t>
            </a:r>
          </a:p>
          <a:p>
            <a:pPr>
              <a:buFontTx/>
              <a:buChar char="•"/>
            </a:pPr>
            <a:r>
              <a:rPr lang="en-US" altLang="en-US" sz="1400">
                <a:latin typeface="Bookman Old Style" pitchFamily="18" charset="0"/>
              </a:rPr>
              <a:t>The configuration and minute details of furrows are permanent and unchanging.</a:t>
            </a:r>
          </a:p>
        </p:txBody>
      </p:sp>
      <p:sp>
        <p:nvSpPr>
          <p:cNvPr id="31753" name="Rectangle 9"/>
          <p:cNvSpPr>
            <a:spLocks noGrp="1" noChangeArrowheads="1"/>
          </p:cNvSpPr>
          <p:nvPr>
            <p:ph type="title"/>
          </p:nvPr>
        </p:nvSpPr>
        <p:spPr/>
        <p:txBody>
          <a:bodyPr/>
          <a:lstStyle/>
          <a:p>
            <a:r>
              <a:rPr lang="en-US" altLang="en-US" sz="5400"/>
              <a:t>Fingerprint Recognition</a:t>
            </a:r>
          </a:p>
        </p:txBody>
      </p:sp>
    </p:spTree>
    <p:extLst>
      <p:ext uri="{BB962C8B-B14F-4D97-AF65-F5344CB8AC3E}">
        <p14:creationId xmlns:p14="http://schemas.microsoft.com/office/powerpoint/2010/main" val="939618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a:t>Face</a:t>
            </a:r>
          </a:p>
        </p:txBody>
      </p:sp>
      <p:pic>
        <p:nvPicPr>
          <p:cNvPr id="52229" name="Picture 5" descr="D:\BAS\sessions\scannedImages\eigenfa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743200"/>
            <a:ext cx="6550025" cy="3276600"/>
          </a:xfrm>
          <a:prstGeom prst="rect">
            <a:avLst/>
          </a:prstGeom>
          <a:noFill/>
          <a:extLst>
            <a:ext uri="{909E8E84-426E-40DD-AFC4-6F175D3DCCD1}">
              <a14:hiddenFill xmlns:a14="http://schemas.microsoft.com/office/drawing/2010/main">
                <a:solidFill>
                  <a:srgbClr val="FFFFFF"/>
                </a:solidFill>
              </a14:hiddenFill>
            </a:ext>
          </a:extLst>
        </p:spPr>
      </p:pic>
      <p:sp>
        <p:nvSpPr>
          <p:cNvPr id="52230" name="Text Box 6"/>
          <p:cNvSpPr txBox="1">
            <a:spLocks noChangeArrowheads="1"/>
          </p:cNvSpPr>
          <p:nvPr/>
        </p:nvSpPr>
        <p:spPr bwMode="auto">
          <a:xfrm>
            <a:off x="2667000" y="2133600"/>
            <a:ext cx="3922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Principal Component Analysis</a:t>
            </a:r>
          </a:p>
        </p:txBody>
      </p:sp>
    </p:spTree>
    <p:extLst>
      <p:ext uri="{BB962C8B-B14F-4D97-AF65-F5344CB8AC3E}">
        <p14:creationId xmlns:p14="http://schemas.microsoft.com/office/powerpoint/2010/main" val="3318822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638300" y="245443"/>
            <a:ext cx="5715000" cy="1143000"/>
          </a:xfrm>
        </p:spPr>
        <p:txBody>
          <a:bodyPr/>
          <a:lstStyle/>
          <a:p>
            <a:br>
              <a:rPr lang="fr-FR" altLang="en-US" dirty="0"/>
            </a:br>
            <a:r>
              <a:rPr lang="fr-FR" altLang="en-US" dirty="0"/>
              <a:t>A Multi-model System</a:t>
            </a:r>
          </a:p>
        </p:txBody>
      </p:sp>
      <p:sp>
        <p:nvSpPr>
          <p:cNvPr id="26629" name="Line 5"/>
          <p:cNvSpPr>
            <a:spLocks noChangeShapeType="1"/>
          </p:cNvSpPr>
          <p:nvPr/>
        </p:nvSpPr>
        <p:spPr bwMode="auto">
          <a:xfrm>
            <a:off x="2209800" y="4267200"/>
            <a:ext cx="35052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6632" name="Text Box 8"/>
          <p:cNvSpPr txBox="1">
            <a:spLocks noChangeArrowheads="1"/>
          </p:cNvSpPr>
          <p:nvPr/>
        </p:nvSpPr>
        <p:spPr bwMode="auto">
          <a:xfrm>
            <a:off x="1765300" y="2227263"/>
            <a:ext cx="982663" cy="40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fr-FR" altLang="en-US" sz="2000"/>
              <a:t>Sensors</a:t>
            </a:r>
            <a:endParaRPr kumimoji="1" lang="en-GB" altLang="en-US" sz="2000"/>
          </a:p>
        </p:txBody>
      </p:sp>
      <p:sp>
        <p:nvSpPr>
          <p:cNvPr id="26633" name="Text Box 9"/>
          <p:cNvSpPr txBox="1">
            <a:spLocks noChangeArrowheads="1"/>
          </p:cNvSpPr>
          <p:nvPr/>
        </p:nvSpPr>
        <p:spPr bwMode="auto">
          <a:xfrm>
            <a:off x="3079750" y="2227263"/>
            <a:ext cx="1235075" cy="40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fr-FR" altLang="en-US" sz="2000"/>
              <a:t>Extractors</a:t>
            </a:r>
            <a:endParaRPr kumimoji="1" lang="en-GB" altLang="en-US" sz="1600"/>
          </a:p>
        </p:txBody>
      </p:sp>
      <p:sp>
        <p:nvSpPr>
          <p:cNvPr id="26634" name="Text Box 10"/>
          <p:cNvSpPr txBox="1">
            <a:spLocks noChangeArrowheads="1"/>
          </p:cNvSpPr>
          <p:nvPr/>
        </p:nvSpPr>
        <p:spPr bwMode="auto">
          <a:xfrm>
            <a:off x="4645025" y="2227263"/>
            <a:ext cx="1262063" cy="40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fr-FR" altLang="en-US" sz="2000"/>
              <a:t>Classifiers</a:t>
            </a:r>
            <a:endParaRPr kumimoji="1" lang="en-GB" altLang="en-US" sz="2000"/>
          </a:p>
        </p:txBody>
      </p:sp>
      <p:sp>
        <p:nvSpPr>
          <p:cNvPr id="26635" name="Line 11"/>
          <p:cNvSpPr>
            <a:spLocks noChangeShapeType="1"/>
          </p:cNvSpPr>
          <p:nvPr/>
        </p:nvSpPr>
        <p:spPr bwMode="auto">
          <a:xfrm flipV="1">
            <a:off x="1447800" y="2430463"/>
            <a:ext cx="304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6636" name="Text Box 12"/>
          <p:cNvSpPr txBox="1">
            <a:spLocks noChangeArrowheads="1"/>
          </p:cNvSpPr>
          <p:nvPr/>
        </p:nvSpPr>
        <p:spPr bwMode="auto">
          <a:xfrm>
            <a:off x="6238875" y="2227263"/>
            <a:ext cx="1277938" cy="40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fr-FR" altLang="en-US" sz="2000"/>
              <a:t>Negotiator</a:t>
            </a:r>
            <a:endParaRPr kumimoji="1" lang="en-GB" altLang="en-US" sz="2000"/>
          </a:p>
        </p:txBody>
      </p:sp>
      <p:sp>
        <p:nvSpPr>
          <p:cNvPr id="26637" name="Line 13"/>
          <p:cNvSpPr>
            <a:spLocks noChangeShapeType="1"/>
          </p:cNvSpPr>
          <p:nvPr/>
        </p:nvSpPr>
        <p:spPr bwMode="auto">
          <a:xfrm flipV="1">
            <a:off x="4327525" y="2430463"/>
            <a:ext cx="304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6638" name="Line 14"/>
          <p:cNvSpPr>
            <a:spLocks noChangeShapeType="1"/>
          </p:cNvSpPr>
          <p:nvPr/>
        </p:nvSpPr>
        <p:spPr bwMode="auto">
          <a:xfrm flipV="1">
            <a:off x="5921375" y="2430463"/>
            <a:ext cx="304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6639" name="Line 15"/>
          <p:cNvSpPr>
            <a:spLocks noChangeShapeType="1"/>
          </p:cNvSpPr>
          <p:nvPr/>
        </p:nvSpPr>
        <p:spPr bwMode="auto">
          <a:xfrm>
            <a:off x="7529513" y="2432050"/>
            <a:ext cx="304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6641" name="Freeform 17"/>
          <p:cNvSpPr>
            <a:spLocks/>
          </p:cNvSpPr>
          <p:nvPr/>
        </p:nvSpPr>
        <p:spPr bwMode="auto">
          <a:xfrm flipV="1">
            <a:off x="2806700" y="2273300"/>
            <a:ext cx="76200" cy="1050925"/>
          </a:xfrm>
          <a:custGeom>
            <a:avLst/>
            <a:gdLst>
              <a:gd name="T0" fmla="*/ 48 w 56"/>
              <a:gd name="T1" fmla="*/ 336 h 456"/>
              <a:gd name="T2" fmla="*/ 48 w 56"/>
              <a:gd name="T3" fmla="*/ 432 h 456"/>
              <a:gd name="T4" fmla="*/ 0 w 56"/>
              <a:gd name="T5" fmla="*/ 384 h 456"/>
              <a:gd name="T6" fmla="*/ 48 w 56"/>
              <a:gd name="T7" fmla="*/ 0 h 456"/>
            </a:gdLst>
            <a:ahLst/>
            <a:cxnLst>
              <a:cxn ang="0">
                <a:pos x="T0" y="T1"/>
              </a:cxn>
              <a:cxn ang="0">
                <a:pos x="T2" y="T3"/>
              </a:cxn>
              <a:cxn ang="0">
                <a:pos x="T4" y="T5"/>
              </a:cxn>
              <a:cxn ang="0">
                <a:pos x="T6" y="T7"/>
              </a:cxn>
            </a:cxnLst>
            <a:rect l="0" t="0" r="r" b="b"/>
            <a:pathLst>
              <a:path w="56" h="456">
                <a:moveTo>
                  <a:pt x="48" y="336"/>
                </a:moveTo>
                <a:cubicBezTo>
                  <a:pt x="52" y="380"/>
                  <a:pt x="56" y="424"/>
                  <a:pt x="48" y="432"/>
                </a:cubicBezTo>
                <a:cubicBezTo>
                  <a:pt x="40" y="440"/>
                  <a:pt x="0" y="456"/>
                  <a:pt x="0" y="384"/>
                </a:cubicBezTo>
                <a:cubicBezTo>
                  <a:pt x="0" y="312"/>
                  <a:pt x="24" y="156"/>
                  <a:pt x="48"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6642" name="Line 18"/>
          <p:cNvSpPr>
            <a:spLocks noChangeShapeType="1"/>
          </p:cNvSpPr>
          <p:nvPr/>
        </p:nvSpPr>
        <p:spPr bwMode="auto">
          <a:xfrm flipV="1">
            <a:off x="2760663" y="2432050"/>
            <a:ext cx="304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6643" name="Freeform 19"/>
          <p:cNvSpPr>
            <a:spLocks/>
          </p:cNvSpPr>
          <p:nvPr/>
        </p:nvSpPr>
        <p:spPr bwMode="auto">
          <a:xfrm flipV="1">
            <a:off x="6007100" y="2273300"/>
            <a:ext cx="76200" cy="1050925"/>
          </a:xfrm>
          <a:custGeom>
            <a:avLst/>
            <a:gdLst>
              <a:gd name="T0" fmla="*/ 48 w 56"/>
              <a:gd name="T1" fmla="*/ 336 h 456"/>
              <a:gd name="T2" fmla="*/ 48 w 56"/>
              <a:gd name="T3" fmla="*/ 432 h 456"/>
              <a:gd name="T4" fmla="*/ 0 w 56"/>
              <a:gd name="T5" fmla="*/ 384 h 456"/>
              <a:gd name="T6" fmla="*/ 48 w 56"/>
              <a:gd name="T7" fmla="*/ 0 h 456"/>
            </a:gdLst>
            <a:ahLst/>
            <a:cxnLst>
              <a:cxn ang="0">
                <a:pos x="T0" y="T1"/>
              </a:cxn>
              <a:cxn ang="0">
                <a:pos x="T2" y="T3"/>
              </a:cxn>
              <a:cxn ang="0">
                <a:pos x="T4" y="T5"/>
              </a:cxn>
              <a:cxn ang="0">
                <a:pos x="T6" y="T7"/>
              </a:cxn>
            </a:cxnLst>
            <a:rect l="0" t="0" r="r" b="b"/>
            <a:pathLst>
              <a:path w="56" h="456">
                <a:moveTo>
                  <a:pt x="48" y="336"/>
                </a:moveTo>
                <a:cubicBezTo>
                  <a:pt x="52" y="380"/>
                  <a:pt x="56" y="424"/>
                  <a:pt x="48" y="432"/>
                </a:cubicBezTo>
                <a:cubicBezTo>
                  <a:pt x="40" y="440"/>
                  <a:pt x="0" y="456"/>
                  <a:pt x="0" y="384"/>
                </a:cubicBezTo>
                <a:cubicBezTo>
                  <a:pt x="0" y="312"/>
                  <a:pt x="24" y="156"/>
                  <a:pt x="48"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6644" name="Text Box 20"/>
          <p:cNvSpPr txBox="1">
            <a:spLocks noChangeArrowheads="1"/>
          </p:cNvSpPr>
          <p:nvPr/>
        </p:nvSpPr>
        <p:spPr bwMode="auto">
          <a:xfrm>
            <a:off x="7808835" y="2730638"/>
            <a:ext cx="9731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fr-FR" altLang="en-US" sz="2000" dirty="0"/>
              <a:t>Accept/</a:t>
            </a:r>
          </a:p>
          <a:p>
            <a:pPr algn="l"/>
            <a:r>
              <a:rPr kumimoji="1" lang="fr-FR" altLang="en-US" sz="2000" dirty="0"/>
              <a:t>Reject</a:t>
            </a:r>
            <a:endParaRPr kumimoji="1" lang="en-GB" altLang="en-US" sz="2000" dirty="0"/>
          </a:p>
        </p:txBody>
      </p:sp>
      <p:pic>
        <p:nvPicPr>
          <p:cNvPr id="26645" name="Picture 21">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3352800"/>
            <a:ext cx="647700" cy="379413"/>
          </a:xfrm>
          <a:prstGeom prst="rect">
            <a:avLst/>
          </a:prstGeom>
          <a:noFill/>
          <a:extLst>
            <a:ext uri="{909E8E84-426E-40DD-AFC4-6F175D3DCCD1}">
              <a14:hiddenFill xmlns:a14="http://schemas.microsoft.com/office/drawing/2010/main">
                <a:solidFill>
                  <a:srgbClr val="FFFFFF"/>
                </a:solidFill>
              </a14:hiddenFill>
            </a:ext>
          </a:extLst>
        </p:spPr>
      </p:pic>
      <p:pic>
        <p:nvPicPr>
          <p:cNvPr id="26646" name="Picture 22" descr="C:\WINDOWS\Application Data\Microsoft\Media Catalog\Downloaded Clips\cl71\j0283726.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3962400"/>
            <a:ext cx="611188" cy="663575"/>
          </a:xfrm>
          <a:prstGeom prst="rect">
            <a:avLst/>
          </a:prstGeom>
          <a:noFill/>
          <a:extLst>
            <a:ext uri="{909E8E84-426E-40DD-AFC4-6F175D3DCCD1}">
              <a14:hiddenFill xmlns:a14="http://schemas.microsoft.com/office/drawing/2010/main">
                <a:solidFill>
                  <a:srgbClr val="FFFFFF"/>
                </a:solidFill>
              </a14:hiddenFill>
            </a:ext>
          </a:extLst>
        </p:spPr>
      </p:pic>
      <p:sp>
        <p:nvSpPr>
          <p:cNvPr id="26651" name="Rectangle 27"/>
          <p:cNvSpPr>
            <a:spLocks noChangeArrowheads="1"/>
          </p:cNvSpPr>
          <p:nvPr/>
        </p:nvSpPr>
        <p:spPr bwMode="auto">
          <a:xfrm>
            <a:off x="2362200" y="4648200"/>
            <a:ext cx="1031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fr-FR" altLang="en-US" sz="1600"/>
              <a:t>2D (bmp) </a:t>
            </a:r>
          </a:p>
        </p:txBody>
      </p:sp>
      <p:sp>
        <p:nvSpPr>
          <p:cNvPr id="26652" name="Rectangle 28"/>
          <p:cNvSpPr>
            <a:spLocks noChangeArrowheads="1"/>
          </p:cNvSpPr>
          <p:nvPr/>
        </p:nvSpPr>
        <p:spPr bwMode="auto">
          <a:xfrm>
            <a:off x="2667000" y="3352800"/>
            <a:ext cx="3984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fr-FR" altLang="en-US" sz="1600"/>
              <a:t>ID</a:t>
            </a:r>
            <a:endParaRPr kumimoji="1" lang="en-GB" altLang="en-US" sz="1600"/>
          </a:p>
        </p:txBody>
      </p:sp>
      <p:sp>
        <p:nvSpPr>
          <p:cNvPr id="26653" name="Text Box 29"/>
          <p:cNvSpPr txBox="1">
            <a:spLocks noChangeArrowheads="1"/>
          </p:cNvSpPr>
          <p:nvPr/>
        </p:nvSpPr>
        <p:spPr bwMode="auto">
          <a:xfrm>
            <a:off x="3276600" y="3924300"/>
            <a:ext cx="1041400" cy="5905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fr-FR" altLang="en-US" sz="1600" b="1" dirty="0"/>
              <a:t>Face</a:t>
            </a:r>
          </a:p>
          <a:p>
            <a:r>
              <a:rPr kumimoji="1" lang="fr-FR" altLang="en-US" sz="1600" b="1" dirty="0"/>
              <a:t>Extractor</a:t>
            </a:r>
            <a:endParaRPr kumimoji="1" lang="en-GB" altLang="en-US" sz="1600" b="1" dirty="0"/>
          </a:p>
        </p:txBody>
      </p:sp>
      <p:sp>
        <p:nvSpPr>
          <p:cNvPr id="26655" name="Text Box 31"/>
          <p:cNvSpPr txBox="1">
            <a:spLocks noChangeArrowheads="1"/>
          </p:cNvSpPr>
          <p:nvPr/>
        </p:nvSpPr>
        <p:spPr bwMode="auto">
          <a:xfrm>
            <a:off x="4419600" y="3924300"/>
            <a:ext cx="871538" cy="5905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fr-FR" altLang="en-US" sz="1600" b="1"/>
              <a:t>Face</a:t>
            </a:r>
          </a:p>
          <a:p>
            <a:r>
              <a:rPr kumimoji="1" lang="fr-FR" altLang="en-US" sz="1600" b="1"/>
              <a:t>Feature</a:t>
            </a:r>
            <a:endParaRPr kumimoji="1" lang="en-GB" altLang="en-US" sz="1600" b="1"/>
          </a:p>
        </p:txBody>
      </p:sp>
      <p:sp>
        <p:nvSpPr>
          <p:cNvPr id="26657" name="Text Box 33"/>
          <p:cNvSpPr txBox="1">
            <a:spLocks noChangeArrowheads="1"/>
          </p:cNvSpPr>
          <p:nvPr/>
        </p:nvSpPr>
        <p:spPr bwMode="auto">
          <a:xfrm>
            <a:off x="5427663" y="3924300"/>
            <a:ext cx="644525" cy="5905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fr-FR" altLang="en-US" sz="1600" b="1"/>
              <a:t>Face</a:t>
            </a:r>
          </a:p>
          <a:p>
            <a:r>
              <a:rPr kumimoji="1" lang="fr-FR" altLang="en-US" sz="1600" b="1"/>
              <a:t>MLP</a:t>
            </a:r>
            <a:endParaRPr kumimoji="1" lang="en-GB" altLang="en-US" sz="1600" b="1"/>
          </a:p>
        </p:txBody>
      </p:sp>
      <p:sp>
        <p:nvSpPr>
          <p:cNvPr id="26663" name="Line 39"/>
          <p:cNvSpPr>
            <a:spLocks noChangeShapeType="1"/>
          </p:cNvSpPr>
          <p:nvPr/>
        </p:nvSpPr>
        <p:spPr bwMode="auto">
          <a:xfrm flipH="1">
            <a:off x="3238500" y="2743200"/>
            <a:ext cx="0" cy="3124200"/>
          </a:xfrm>
          <a:prstGeom prst="line">
            <a:avLst/>
          </a:prstGeom>
          <a:noFill/>
          <a:ln w="952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6664" name="Line 40"/>
          <p:cNvSpPr>
            <a:spLocks noChangeShapeType="1"/>
          </p:cNvSpPr>
          <p:nvPr/>
        </p:nvSpPr>
        <p:spPr bwMode="auto">
          <a:xfrm>
            <a:off x="4381500" y="2819400"/>
            <a:ext cx="0" cy="3048000"/>
          </a:xfrm>
          <a:prstGeom prst="line">
            <a:avLst/>
          </a:prstGeom>
          <a:noFill/>
          <a:ln w="952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6665" name="Line 41"/>
          <p:cNvSpPr>
            <a:spLocks noChangeShapeType="1"/>
          </p:cNvSpPr>
          <p:nvPr/>
        </p:nvSpPr>
        <p:spPr bwMode="auto">
          <a:xfrm flipH="1">
            <a:off x="5334000" y="2743200"/>
            <a:ext cx="0" cy="3124200"/>
          </a:xfrm>
          <a:prstGeom prst="line">
            <a:avLst/>
          </a:prstGeom>
          <a:noFill/>
          <a:ln w="952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6666" name="Line 42"/>
          <p:cNvSpPr>
            <a:spLocks noChangeShapeType="1"/>
          </p:cNvSpPr>
          <p:nvPr/>
        </p:nvSpPr>
        <p:spPr bwMode="auto">
          <a:xfrm>
            <a:off x="6248400" y="2743200"/>
            <a:ext cx="0" cy="2971800"/>
          </a:xfrm>
          <a:prstGeom prst="line">
            <a:avLst/>
          </a:prstGeom>
          <a:noFill/>
          <a:ln w="952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6667" name="Freeform 43"/>
          <p:cNvSpPr>
            <a:spLocks/>
          </p:cNvSpPr>
          <p:nvPr/>
        </p:nvSpPr>
        <p:spPr bwMode="auto">
          <a:xfrm flipV="1">
            <a:off x="4457700" y="2286000"/>
            <a:ext cx="76200" cy="1050925"/>
          </a:xfrm>
          <a:custGeom>
            <a:avLst/>
            <a:gdLst>
              <a:gd name="T0" fmla="*/ 48 w 56"/>
              <a:gd name="T1" fmla="*/ 336 h 456"/>
              <a:gd name="T2" fmla="*/ 48 w 56"/>
              <a:gd name="T3" fmla="*/ 432 h 456"/>
              <a:gd name="T4" fmla="*/ 0 w 56"/>
              <a:gd name="T5" fmla="*/ 384 h 456"/>
              <a:gd name="T6" fmla="*/ 48 w 56"/>
              <a:gd name="T7" fmla="*/ 0 h 456"/>
            </a:gdLst>
            <a:ahLst/>
            <a:cxnLst>
              <a:cxn ang="0">
                <a:pos x="T0" y="T1"/>
              </a:cxn>
              <a:cxn ang="0">
                <a:pos x="T2" y="T3"/>
              </a:cxn>
              <a:cxn ang="0">
                <a:pos x="T4" y="T5"/>
              </a:cxn>
              <a:cxn ang="0">
                <a:pos x="T6" y="T7"/>
              </a:cxn>
            </a:cxnLst>
            <a:rect l="0" t="0" r="r" b="b"/>
            <a:pathLst>
              <a:path w="56" h="456">
                <a:moveTo>
                  <a:pt x="48" y="336"/>
                </a:moveTo>
                <a:cubicBezTo>
                  <a:pt x="52" y="380"/>
                  <a:pt x="56" y="424"/>
                  <a:pt x="48" y="432"/>
                </a:cubicBezTo>
                <a:cubicBezTo>
                  <a:pt x="40" y="440"/>
                  <a:pt x="0" y="456"/>
                  <a:pt x="0" y="384"/>
                </a:cubicBezTo>
                <a:cubicBezTo>
                  <a:pt x="0" y="312"/>
                  <a:pt x="24" y="156"/>
                  <a:pt x="48"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 name="TextBox 1">
            <a:extLst>
              <a:ext uri="{FF2B5EF4-FFF2-40B4-BE49-F238E27FC236}">
                <a16:creationId xmlns:a16="http://schemas.microsoft.com/office/drawing/2014/main" id="{331EECF3-045C-4BD9-8AA2-5C0217D10831}"/>
              </a:ext>
            </a:extLst>
          </p:cNvPr>
          <p:cNvSpPr txBox="1"/>
          <p:nvPr/>
        </p:nvSpPr>
        <p:spPr>
          <a:xfrm>
            <a:off x="1619251" y="4648200"/>
            <a:ext cx="800099" cy="369332"/>
          </a:xfrm>
          <a:prstGeom prst="rect">
            <a:avLst/>
          </a:prstGeom>
          <a:noFill/>
          <a:ln>
            <a:solidFill>
              <a:schemeClr val="tx1"/>
            </a:solidFill>
          </a:ln>
        </p:spPr>
        <p:txBody>
          <a:bodyPr wrap="square" rtlCol="0">
            <a:spAutoFit/>
          </a:bodyPr>
          <a:lstStyle/>
          <a:p>
            <a:r>
              <a:rPr lang="en-US" dirty="0"/>
              <a:t>Image</a:t>
            </a:r>
            <a:endParaRPr lang="en-IN" dirty="0"/>
          </a:p>
        </p:txBody>
      </p:sp>
      <p:sp>
        <p:nvSpPr>
          <p:cNvPr id="3" name="TextBox 2">
            <a:extLst>
              <a:ext uri="{FF2B5EF4-FFF2-40B4-BE49-F238E27FC236}">
                <a16:creationId xmlns:a16="http://schemas.microsoft.com/office/drawing/2014/main" id="{E2F8FB7D-B76B-4BD9-89E3-285EBF735603}"/>
              </a:ext>
            </a:extLst>
          </p:cNvPr>
          <p:cNvSpPr txBox="1"/>
          <p:nvPr/>
        </p:nvSpPr>
        <p:spPr>
          <a:xfrm>
            <a:off x="7834313" y="2227263"/>
            <a:ext cx="740870" cy="369332"/>
          </a:xfrm>
          <a:prstGeom prst="rect">
            <a:avLst/>
          </a:prstGeom>
          <a:noFill/>
          <a:ln>
            <a:solidFill>
              <a:schemeClr val="tx1"/>
            </a:solidFill>
          </a:ln>
        </p:spPr>
        <p:txBody>
          <a:bodyPr wrap="square" rtlCol="0">
            <a:spAutoFit/>
          </a:bodyPr>
          <a:lstStyle/>
          <a:p>
            <a:r>
              <a:rPr lang="en-US" dirty="0"/>
              <a:t>Key</a:t>
            </a:r>
            <a:endParaRPr lang="en-IN" dirty="0"/>
          </a:p>
        </p:txBody>
      </p:sp>
      <p:sp>
        <p:nvSpPr>
          <p:cNvPr id="4" name="TextBox 3">
            <a:extLst>
              <a:ext uri="{FF2B5EF4-FFF2-40B4-BE49-F238E27FC236}">
                <a16:creationId xmlns:a16="http://schemas.microsoft.com/office/drawing/2014/main" id="{30463D81-94B7-471D-8E55-F961D9AFEB94}"/>
              </a:ext>
            </a:extLst>
          </p:cNvPr>
          <p:cNvSpPr txBox="1"/>
          <p:nvPr/>
        </p:nvSpPr>
        <p:spPr>
          <a:xfrm>
            <a:off x="395536" y="2173069"/>
            <a:ext cx="1037977" cy="646331"/>
          </a:xfrm>
          <a:prstGeom prst="rect">
            <a:avLst/>
          </a:prstGeom>
          <a:noFill/>
          <a:ln>
            <a:solidFill>
              <a:schemeClr val="tx1"/>
            </a:solidFill>
          </a:ln>
        </p:spPr>
        <p:txBody>
          <a:bodyPr wrap="square" rtlCol="0">
            <a:spAutoFit/>
          </a:bodyPr>
          <a:lstStyle/>
          <a:p>
            <a:r>
              <a:rPr lang="en-US" dirty="0"/>
              <a:t>User / Person</a:t>
            </a:r>
            <a:endParaRPr lang="en-IN" dirty="0"/>
          </a:p>
        </p:txBody>
      </p:sp>
    </p:spTree>
    <p:extLst>
      <p:ext uri="{BB962C8B-B14F-4D97-AF65-F5344CB8AC3E}">
        <p14:creationId xmlns:p14="http://schemas.microsoft.com/office/powerpoint/2010/main" val="364190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SURVEY</a:t>
            </a:r>
          </a:p>
        </p:txBody>
      </p:sp>
      <p:sp>
        <p:nvSpPr>
          <p:cNvPr id="3" name="Text Placeholder 2"/>
          <p:cNvSpPr>
            <a:spLocks noGrp="1"/>
          </p:cNvSpPr>
          <p:nvPr>
            <p:ph type="body" sz="half" idx="1"/>
          </p:nvPr>
        </p:nvSpPr>
        <p:spPr>
          <a:xfrm>
            <a:off x="809625" y="1844825"/>
            <a:ext cx="7866831" cy="4251176"/>
          </a:xfrm>
        </p:spPr>
        <p:txBody>
          <a:bodyPr>
            <a:noAutofit/>
          </a:bodyPr>
          <a:lstStyle/>
          <a:p>
            <a:pPr algn="just"/>
            <a:r>
              <a:rPr lang="en-IN" sz="1800" dirty="0" err="1"/>
              <a:t>Hanady</a:t>
            </a:r>
            <a:r>
              <a:rPr lang="en-IN" sz="1800" dirty="0"/>
              <a:t> </a:t>
            </a:r>
            <a:r>
              <a:rPr lang="en-IN" sz="1800" dirty="0" err="1"/>
              <a:t>Hussien</a:t>
            </a:r>
            <a:r>
              <a:rPr lang="en-IN" sz="1800" dirty="0"/>
              <a:t>, </a:t>
            </a:r>
            <a:r>
              <a:rPr lang="en-IN" sz="1800" dirty="0" err="1"/>
              <a:t>Hussien</a:t>
            </a:r>
            <a:r>
              <a:rPr lang="en-IN" sz="1800" dirty="0"/>
              <a:t> </a:t>
            </a:r>
            <a:r>
              <a:rPr lang="en-IN" sz="1800" dirty="0" err="1"/>
              <a:t>Aboelnaga</a:t>
            </a:r>
            <a:r>
              <a:rPr lang="en-IN" sz="1800" dirty="0"/>
              <a:t>, IEEE 2013. </a:t>
            </a:r>
            <a:r>
              <a:rPr lang="en-IN" sz="1800" b="1" dirty="0"/>
              <a:t>“Design of secured E-voting systems.” </a:t>
            </a:r>
            <a:r>
              <a:rPr lang="en-IN" sz="1800" dirty="0"/>
              <a:t>is able to desire with the widespread use of computers and embedded systems. Security is the essential problem should be considered in such systems. This paper proposes a new e-voting system that fulfils the security requirements of e-voting. It is based on homomorphic property and blind signature plan. The suggest system is executed on an embedded system which serves as a voting machine. The system employees RFID to store all conditions that comply with the rule of the government to check voter eligibility.</a:t>
            </a:r>
          </a:p>
          <a:p>
            <a:pPr algn="just"/>
            <a:r>
              <a:rPr lang="en-IN" sz="1800" dirty="0"/>
              <a:t> Daniel </a:t>
            </a:r>
            <a:r>
              <a:rPr lang="en-IN" sz="1800" dirty="0" err="1"/>
              <a:t>petcu</a:t>
            </a:r>
            <a:r>
              <a:rPr lang="en-IN" sz="1800" dirty="0"/>
              <a:t>, Dan </a:t>
            </a:r>
            <a:r>
              <a:rPr lang="en-IN" sz="1800" dirty="0" err="1"/>
              <a:t>Alexandru</a:t>
            </a:r>
            <a:r>
              <a:rPr lang="en-IN" sz="1800" dirty="0"/>
              <a:t> </a:t>
            </a:r>
            <a:r>
              <a:rPr lang="en-IN" sz="1800" dirty="0" err="1"/>
              <a:t>stoichescu</a:t>
            </a:r>
            <a:r>
              <a:rPr lang="en-IN" sz="1800" dirty="0"/>
              <a:t>, The International Symposium on Advanced topics in electrical engineering; May 7-9, 2015. “</a:t>
            </a:r>
            <a:r>
              <a:rPr lang="en-IN" sz="1800" b="1" dirty="0"/>
              <a:t>A Hybrid mobile Biometric- based E- voting system.” </a:t>
            </a:r>
            <a:r>
              <a:rPr lang="en-IN" sz="1800" dirty="0"/>
              <a:t>Information technology changes and gives shape to networked society all over the world today &amp; its solutions are becoming main drivers in almost all field of human life activity..</a:t>
            </a:r>
          </a:p>
        </p:txBody>
      </p:sp>
    </p:spTree>
    <p:extLst>
      <p:ext uri="{BB962C8B-B14F-4D97-AF65-F5344CB8AC3E}">
        <p14:creationId xmlns:p14="http://schemas.microsoft.com/office/powerpoint/2010/main" val="1078303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SURVEY</a:t>
            </a:r>
          </a:p>
        </p:txBody>
      </p:sp>
      <p:sp>
        <p:nvSpPr>
          <p:cNvPr id="3" name="Content Placeholder 2"/>
          <p:cNvSpPr>
            <a:spLocks noGrp="1"/>
          </p:cNvSpPr>
          <p:nvPr>
            <p:ph idx="1"/>
          </p:nvPr>
        </p:nvSpPr>
        <p:spPr/>
        <p:txBody>
          <a:bodyPr>
            <a:normAutofit/>
          </a:bodyPr>
          <a:lstStyle/>
          <a:p>
            <a:r>
              <a:rPr lang="en-IN" dirty="0" err="1"/>
              <a:t>M.Venkata</a:t>
            </a:r>
            <a:r>
              <a:rPr lang="en-IN" dirty="0"/>
              <a:t> Rao, </a:t>
            </a:r>
            <a:r>
              <a:rPr lang="en-IN" dirty="0" err="1"/>
              <a:t>Venugopal</a:t>
            </a:r>
            <a:r>
              <a:rPr lang="en-IN" dirty="0"/>
              <a:t> Rao </a:t>
            </a:r>
            <a:r>
              <a:rPr lang="en-IN" dirty="0" err="1"/>
              <a:t>Ravula</a:t>
            </a:r>
            <a:r>
              <a:rPr lang="en-IN" dirty="0"/>
              <a:t>, </a:t>
            </a:r>
            <a:r>
              <a:rPr lang="en-IN" dirty="0" err="1"/>
              <a:t>Pavani</a:t>
            </a:r>
            <a:r>
              <a:rPr lang="en-IN" dirty="0"/>
              <a:t> Pala. “</a:t>
            </a:r>
            <a:r>
              <a:rPr lang="en-IN" b="1" dirty="0"/>
              <a:t>Development Of </a:t>
            </a:r>
            <a:r>
              <a:rPr lang="en-IN" b="1" dirty="0" err="1"/>
              <a:t>Antirigging</a:t>
            </a:r>
            <a:r>
              <a:rPr lang="en-IN" b="1" dirty="0"/>
              <a:t> Voting System Using Biometrics Based On </a:t>
            </a:r>
            <a:r>
              <a:rPr lang="en-IN" b="1" dirty="0" err="1"/>
              <a:t>Adharcard</a:t>
            </a:r>
            <a:r>
              <a:rPr lang="en-IN" b="1" dirty="0"/>
              <a:t> Numbering”. </a:t>
            </a:r>
            <a:r>
              <a:rPr lang="en-IN" dirty="0"/>
              <a:t>Now a </a:t>
            </a:r>
            <a:r>
              <a:rPr lang="en-IN" dirty="0" err="1"/>
              <a:t>day‟s</a:t>
            </a:r>
            <a:r>
              <a:rPr lang="en-IN" dirty="0"/>
              <a:t> voting process is exercised by using EVM(Electronic voting machine). In this paper we present and use implementation is to execute the progress of anti rigging voting system using finger print .The purpose of the project and implementation is to provide a safety and good environment to the customers is to electing the candidates by using the intelligent electronic voting machine by providing a rival naming to every user using the FINGER PRINT identification technology. Herein this project and satisfy we are going supply the at most security since it is taking the FINGER PRINTS as the authentication for EVM. </a:t>
            </a:r>
          </a:p>
        </p:txBody>
      </p:sp>
    </p:spTree>
    <p:extLst>
      <p:ext uri="{BB962C8B-B14F-4D97-AF65-F5344CB8AC3E}">
        <p14:creationId xmlns:p14="http://schemas.microsoft.com/office/powerpoint/2010/main" val="174841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IN" altLang="en-US" dirty="0"/>
              <a:t>MICROCONTROLLER</a:t>
            </a:r>
          </a:p>
        </p:txBody>
      </p:sp>
      <p:sp>
        <p:nvSpPr>
          <p:cNvPr id="3" name="Content Placeholder 2"/>
          <p:cNvSpPr>
            <a:spLocks noGrp="1"/>
          </p:cNvSpPr>
          <p:nvPr>
            <p:ph idx="1"/>
          </p:nvPr>
        </p:nvSpPr>
        <p:spPr/>
        <p:txBody>
          <a:bodyPr/>
          <a:lstStyle/>
          <a:p>
            <a:pPr eaLnBrk="1" fontAlgn="auto" hangingPunct="1">
              <a:lnSpc>
                <a:spcPct val="80000"/>
              </a:lnSpc>
              <a:spcAft>
                <a:spcPts val="0"/>
              </a:spcAft>
              <a:buClr>
                <a:schemeClr val="bg2">
                  <a:lumMod val="40000"/>
                  <a:lumOff val="60000"/>
                </a:schemeClr>
              </a:buClr>
              <a:buFont typeface="Wingdings" panose="05000000000000000000" pitchFamily="2" charset="2"/>
              <a:buChar char="Ø"/>
              <a:defRPr/>
            </a:pPr>
            <a:r>
              <a:rPr lang="en-US" dirty="0"/>
              <a:t>ATmega8 is the microcontroller used in the project.</a:t>
            </a:r>
          </a:p>
          <a:p>
            <a:pPr eaLnBrk="1" fontAlgn="auto" hangingPunct="1">
              <a:lnSpc>
                <a:spcPct val="80000"/>
              </a:lnSpc>
              <a:spcAft>
                <a:spcPts val="0"/>
              </a:spcAft>
              <a:buClr>
                <a:schemeClr val="bg2">
                  <a:lumMod val="40000"/>
                  <a:lumOff val="60000"/>
                </a:schemeClr>
              </a:buClr>
              <a:buFont typeface="Wingdings" panose="05000000000000000000" pitchFamily="2" charset="2"/>
              <a:buChar char="Ø"/>
              <a:defRPr/>
            </a:pPr>
            <a:r>
              <a:rPr lang="en-US" dirty="0"/>
              <a:t>The controller has peripheral features like inbuilt ADC, required to get the signals from the sensors.</a:t>
            </a:r>
          </a:p>
          <a:p>
            <a:pPr eaLnBrk="1" fontAlgn="auto" hangingPunct="1">
              <a:lnSpc>
                <a:spcPct val="80000"/>
              </a:lnSpc>
              <a:spcAft>
                <a:spcPts val="0"/>
              </a:spcAft>
              <a:buClr>
                <a:schemeClr val="bg2">
                  <a:lumMod val="40000"/>
                  <a:lumOff val="60000"/>
                </a:schemeClr>
              </a:buClr>
              <a:buFont typeface="Wingdings" panose="05000000000000000000" pitchFamily="2" charset="2"/>
              <a:buChar char="Ø"/>
              <a:defRPr/>
            </a:pPr>
            <a:r>
              <a:rPr lang="en-US" dirty="0"/>
              <a:t>Maximum clock frequency is 20MHz and hence faster than 8051.</a:t>
            </a:r>
          </a:p>
          <a:p>
            <a:pPr eaLnBrk="1" fontAlgn="auto" hangingPunct="1">
              <a:lnSpc>
                <a:spcPct val="80000"/>
              </a:lnSpc>
              <a:spcAft>
                <a:spcPts val="0"/>
              </a:spcAft>
              <a:buClr>
                <a:schemeClr val="bg2">
                  <a:lumMod val="40000"/>
                  <a:lumOff val="60000"/>
                </a:schemeClr>
              </a:buClr>
              <a:buFont typeface="Wingdings" panose="05000000000000000000" pitchFamily="2" charset="2"/>
              <a:buChar char="Ø"/>
              <a:defRPr/>
            </a:pPr>
            <a:r>
              <a:rPr lang="en-US" dirty="0"/>
              <a:t>Based on RISC and Harvard architecture and hence even more faster.</a:t>
            </a:r>
          </a:p>
          <a:p>
            <a:pPr eaLnBrk="1" fontAlgn="auto" hangingPunct="1">
              <a:lnSpc>
                <a:spcPct val="80000"/>
              </a:lnSpc>
              <a:spcAft>
                <a:spcPts val="0"/>
              </a:spcAft>
              <a:buClr>
                <a:schemeClr val="bg2">
                  <a:lumMod val="40000"/>
                  <a:lumOff val="60000"/>
                </a:schemeClr>
              </a:buClr>
              <a:buFont typeface="Wingdings" panose="05000000000000000000" pitchFamily="2" charset="2"/>
              <a:buChar char="Ø"/>
              <a:defRPr/>
            </a:pPr>
            <a:r>
              <a:rPr lang="en-US" dirty="0"/>
              <a:t>Embedded C is used for programming the microcontroller.</a:t>
            </a:r>
          </a:p>
          <a:p>
            <a:pPr>
              <a:defRPr/>
            </a:pPr>
            <a:endParaRPr lang="en-IN" dirty="0"/>
          </a:p>
        </p:txBody>
      </p:sp>
    </p:spTree>
    <p:extLst>
      <p:ext uri="{BB962C8B-B14F-4D97-AF65-F5344CB8AC3E}">
        <p14:creationId xmlns:p14="http://schemas.microsoft.com/office/powerpoint/2010/main" val="2261381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9000" y="381000"/>
            <a:ext cx="2318328" cy="523220"/>
          </a:xfrm>
          <a:prstGeom prst="rect">
            <a:avLst/>
          </a:prstGeom>
        </p:spPr>
        <p:txBody>
          <a:bodyPr wrap="none">
            <a:spAutoFit/>
          </a:bodyPr>
          <a:lstStyle/>
          <a:p>
            <a:pPr algn="ctr">
              <a:buFont typeface="Wingdings" pitchFamily="2" charset="2"/>
              <a:buChar char="v"/>
            </a:pPr>
            <a:r>
              <a:rPr lang="en-US" sz="2800" b="1" dirty="0"/>
              <a:t> Advantages</a:t>
            </a:r>
            <a:endParaRPr lang="en-US" sz="2800" dirty="0"/>
          </a:p>
        </p:txBody>
      </p:sp>
      <p:sp>
        <p:nvSpPr>
          <p:cNvPr id="3" name="TextBox 2"/>
          <p:cNvSpPr txBox="1"/>
          <p:nvPr/>
        </p:nvSpPr>
        <p:spPr>
          <a:xfrm>
            <a:off x="663864" y="1121688"/>
            <a:ext cx="7848600" cy="4801314"/>
          </a:xfrm>
          <a:prstGeom prst="rect">
            <a:avLst/>
          </a:prstGeom>
          <a:noFill/>
        </p:spPr>
        <p:txBody>
          <a:bodyPr wrap="square" rtlCol="0">
            <a:spAutoFit/>
          </a:bodyPr>
          <a:lstStyle/>
          <a:p>
            <a:pPr>
              <a:buFont typeface="Arial" pitchFamily="34" charset="0"/>
              <a:buChar char="•"/>
            </a:pPr>
            <a:r>
              <a:rPr lang="en-US" dirty="0"/>
              <a:t>  Rigging will be eliminated completely</a:t>
            </a:r>
          </a:p>
          <a:p>
            <a:pPr>
              <a:buFont typeface="Arial" pitchFamily="34" charset="0"/>
              <a:buChar char="•"/>
            </a:pPr>
            <a:endParaRPr lang="en-US" dirty="0"/>
          </a:p>
          <a:p>
            <a:pPr>
              <a:buFont typeface="Arial" pitchFamily="34" charset="0"/>
              <a:buChar char="•"/>
            </a:pPr>
            <a:r>
              <a:rPr lang="en-US" dirty="0"/>
              <a:t>  Highly tamper – proof.</a:t>
            </a:r>
          </a:p>
          <a:p>
            <a:pPr>
              <a:buFont typeface="Arial" pitchFamily="34" charset="0"/>
              <a:buChar char="•"/>
            </a:pPr>
            <a:endParaRPr lang="en-US" dirty="0"/>
          </a:p>
          <a:p>
            <a:pPr>
              <a:buFont typeface="Arial" pitchFamily="34" charset="0"/>
              <a:buChar char="•"/>
            </a:pPr>
            <a:r>
              <a:rPr lang="en-US" dirty="0"/>
              <a:t>  This unique fingerprint voter ID card can be used for identification purpose in Govt/Semi-Govt bodies. E.g.: When applying Passport, Driving license, etc</a:t>
            </a:r>
          </a:p>
          <a:p>
            <a:pPr>
              <a:buFont typeface="Arial" pitchFamily="34" charset="0"/>
              <a:buChar char="•"/>
            </a:pPr>
            <a:endParaRPr lang="en-US" dirty="0"/>
          </a:p>
          <a:p>
            <a:pPr>
              <a:buFont typeface="Arial" pitchFamily="34" charset="0"/>
              <a:buChar char="•"/>
            </a:pPr>
            <a:r>
              <a:rPr lang="en-US" dirty="0"/>
              <a:t>  Preserves voting secrecy, No scope for invalid votes</a:t>
            </a:r>
          </a:p>
          <a:p>
            <a:pPr>
              <a:buFont typeface="Arial" pitchFamily="34" charset="0"/>
              <a:buChar char="•"/>
            </a:pPr>
            <a:endParaRPr lang="en-US" dirty="0">
              <a:solidFill>
                <a:schemeClr val="accent1">
                  <a:lumMod val="75000"/>
                </a:schemeClr>
              </a:solidFill>
            </a:endParaRPr>
          </a:p>
          <a:p>
            <a:pPr>
              <a:buFont typeface="Arial" pitchFamily="34" charset="0"/>
              <a:buChar char="•"/>
            </a:pPr>
            <a:r>
              <a:rPr lang="en-US" dirty="0">
                <a:solidFill>
                  <a:schemeClr val="accent1">
                    <a:lumMod val="75000"/>
                  </a:schemeClr>
                </a:solidFill>
              </a:rPr>
              <a:t>  </a:t>
            </a:r>
            <a:r>
              <a:rPr lang="en-US" dirty="0"/>
              <a:t>This system allows only authenticated voting than the existing equipment as the person is identified based on his Fingerprint and Face Recognition which is unique to each individual. </a:t>
            </a:r>
          </a:p>
          <a:p>
            <a:pPr>
              <a:buFont typeface="Arial" pitchFamily="34" charset="0"/>
              <a:buChar char="•"/>
            </a:pPr>
            <a:r>
              <a:rPr lang="en-US" dirty="0"/>
              <a:t>Low power consumption </a:t>
            </a:r>
          </a:p>
          <a:p>
            <a:pPr>
              <a:buFont typeface="Arial" pitchFamily="34" charset="0"/>
              <a:buChar char="•"/>
            </a:pPr>
            <a:r>
              <a:rPr lang="en-US" dirty="0"/>
              <a:t>It is economical </a:t>
            </a:r>
          </a:p>
          <a:p>
            <a:pPr>
              <a:buFont typeface="Arial" pitchFamily="34" charset="0"/>
              <a:buChar char="•"/>
            </a:pPr>
            <a:r>
              <a:rPr lang="en-US" dirty="0"/>
              <a:t>Less manpower required </a:t>
            </a:r>
          </a:p>
          <a:p>
            <a:pPr>
              <a:buFont typeface="Arial" pitchFamily="34" charset="0"/>
              <a:buChar char="•"/>
            </a:pPr>
            <a:r>
              <a:rPr lang="en-US" dirty="0"/>
              <a:t> Time conscious, less time required for voting &amp; counting  Avoids invalid voting as it prevents unregistered voters from voting. </a:t>
            </a:r>
            <a:r>
              <a:rPr lang="en-US" dirty="0">
                <a:solidFill>
                  <a:schemeClr val="accent1">
                    <a:lumMod val="75000"/>
                  </a:schemeClr>
                </a:solidFill>
              </a:rPr>
              <a:t>.</a:t>
            </a:r>
          </a:p>
        </p:txBody>
      </p:sp>
    </p:spTree>
    <p:extLst>
      <p:ext uri="{BB962C8B-B14F-4D97-AF65-F5344CB8AC3E}">
        <p14:creationId xmlns:p14="http://schemas.microsoft.com/office/powerpoint/2010/main" val="1191539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a:t>
            </a:r>
          </a:p>
        </p:txBody>
      </p:sp>
      <p:sp>
        <p:nvSpPr>
          <p:cNvPr id="3" name="Content Placeholder 2"/>
          <p:cNvSpPr>
            <a:spLocks noGrp="1"/>
          </p:cNvSpPr>
          <p:nvPr>
            <p:ph idx="1"/>
          </p:nvPr>
        </p:nvSpPr>
        <p:spPr/>
        <p:txBody>
          <a:bodyPr>
            <a:normAutofit lnSpcReduction="10000"/>
          </a:bodyPr>
          <a:lstStyle/>
          <a:p>
            <a:r>
              <a:rPr lang="en-IN" dirty="0"/>
              <a:t>F. S. Wood, “Electric voting-machine”, U.S. Patent 616,174, Granted Dec. 20, 1898. </a:t>
            </a:r>
          </a:p>
          <a:p>
            <a:r>
              <a:rPr lang="en-IN" dirty="0"/>
              <a:t>J. Fried and A. Lee, “Study On Open Source Voting Systems”, Draft Report, San Francisco Local Agency Formation Commission, 2015.</a:t>
            </a:r>
          </a:p>
          <a:p>
            <a:r>
              <a:rPr lang="en-IN" dirty="0"/>
              <a:t>Wikipedia, “Electronic voting”, 2015. [Online]. Available: https://en.wikipedia.org/wiki/Electronic_voting. </a:t>
            </a:r>
          </a:p>
          <a:p>
            <a:r>
              <a:rPr lang="en-IN" dirty="0"/>
              <a:t>A. Boyle, 'Pentagon launches Internet voting effort for overseas Americans', MSNBC, 2003.</a:t>
            </a:r>
          </a:p>
          <a:p>
            <a:r>
              <a:rPr lang="en-IN" dirty="0"/>
              <a:t>  D. Jefferson, A. Rubin, B. Simmons, and D. Wagner. “A Security Analysis of the Secure Electronic Registration and Voting Experiment (SERVE)”. Technical report, 2004. </a:t>
            </a:r>
          </a:p>
          <a:p>
            <a:r>
              <a:rPr lang="en-IN" dirty="0"/>
              <a:t> GIAC Security Essentials Certification, “Trusting the machine: inherent problems with electronic voting systems”, Global Information Assurance Certification Paper, 2004.. </a:t>
            </a:r>
          </a:p>
        </p:txBody>
      </p:sp>
    </p:spTree>
    <p:extLst>
      <p:ext uri="{BB962C8B-B14F-4D97-AF65-F5344CB8AC3E}">
        <p14:creationId xmlns:p14="http://schemas.microsoft.com/office/powerpoint/2010/main" val="1808321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287</TotalTime>
  <Words>1370</Words>
  <Application>Microsoft Office PowerPoint</Application>
  <PresentationFormat>On-screen Show (4:3)</PresentationFormat>
  <Paragraphs>108</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Aharoni</vt:lpstr>
      <vt:lpstr>Arial</vt:lpstr>
      <vt:lpstr>Bookman Old Style</vt:lpstr>
      <vt:lpstr>Calibri</vt:lpstr>
      <vt:lpstr>Calibri Light</vt:lpstr>
      <vt:lpstr>Times New Roman</vt:lpstr>
      <vt:lpstr>Wingdings</vt:lpstr>
      <vt:lpstr>Office Theme</vt:lpstr>
      <vt:lpstr>PowerPoint Presentation</vt:lpstr>
      <vt:lpstr>ABSTRACT</vt:lpstr>
      <vt:lpstr>INTRODUCTION </vt:lpstr>
      <vt:lpstr>EXISTING METHOD</vt:lpstr>
      <vt:lpstr> PROBLEM IDENTIFICATION IN PROPOSED SYSTEM </vt:lpstr>
      <vt:lpstr>PowerPoint Presentation</vt:lpstr>
      <vt:lpstr>HARDWARE </vt:lpstr>
      <vt:lpstr>  SOFTWARE </vt:lpstr>
      <vt:lpstr>Fingerprint Sensors</vt:lpstr>
      <vt:lpstr>Fingerprint Recognition</vt:lpstr>
      <vt:lpstr>Face</vt:lpstr>
      <vt:lpstr> A Multi-model System</vt:lpstr>
      <vt:lpstr>LITERATURE SURVEY</vt:lpstr>
      <vt:lpstr>LITERATURE SURVEY</vt:lpstr>
      <vt:lpstr>MICROCONTROLLER</vt:lpstr>
      <vt:lpstr>PowerPoint Presentation</vt:lpstr>
      <vt:lpstr>REFERENCES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perumal subbaiah</dc:creator>
  <cp:lastModifiedBy>bharathganesh2001@gmail.com</cp:lastModifiedBy>
  <cp:revision>14</cp:revision>
  <dcterms:created xsi:type="dcterms:W3CDTF">2017-01-29T10:13:12Z</dcterms:created>
  <dcterms:modified xsi:type="dcterms:W3CDTF">2022-06-08T14:30:08Z</dcterms:modified>
</cp:coreProperties>
</file>