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6" r:id="rId1"/>
  </p:sldMasterIdLst>
  <p:notesMasterIdLst>
    <p:notesMasterId r:id="rId19"/>
  </p:notesMasterIdLst>
  <p:sldIdLst>
    <p:sldId id="256" r:id="rId2"/>
    <p:sldId id="269" r:id="rId3"/>
    <p:sldId id="267" r:id="rId4"/>
    <p:sldId id="262" r:id="rId5"/>
    <p:sldId id="264" r:id="rId6"/>
    <p:sldId id="265" r:id="rId7"/>
    <p:sldId id="260" r:id="rId8"/>
    <p:sldId id="268" r:id="rId9"/>
    <p:sldId id="266" r:id="rId10"/>
    <p:sldId id="270" r:id="rId11"/>
    <p:sldId id="271" r:id="rId12"/>
    <p:sldId id="276" r:id="rId13"/>
    <p:sldId id="273" r:id="rId14"/>
    <p:sldId id="274" r:id="rId15"/>
    <p:sldId id="272" r:id="rId16"/>
    <p:sldId id="275" r:id="rId17"/>
    <p:sldId id="26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76" autoAdjust="0"/>
    <p:restoredTop sz="94660"/>
  </p:normalViewPr>
  <p:slideViewPr>
    <p:cSldViewPr snapToGrid="0">
      <p:cViewPr varScale="1">
        <p:scale>
          <a:sx n="70" d="100"/>
          <a:sy n="70" d="100"/>
        </p:scale>
        <p:origin x="582"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C01325D-BC9B-40CA-A232-812DD10CD9D7}" type="datetimeFigureOut">
              <a:rPr lang="en-IN" smtClean="0"/>
              <a:t>05-06-2022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108411-82E5-48F5-A95A-D6382729B8D9}" type="slidenum">
              <a:rPr lang="en-IN" smtClean="0"/>
              <a:t>‹#›</a:t>
            </a:fld>
            <a:endParaRPr lang="en-IN"/>
          </a:p>
        </p:txBody>
      </p:sp>
    </p:spTree>
    <p:extLst>
      <p:ext uri="{BB962C8B-B14F-4D97-AF65-F5344CB8AC3E}">
        <p14:creationId xmlns:p14="http://schemas.microsoft.com/office/powerpoint/2010/main" val="764379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2954981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9457167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174861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FFD472B-3F04-4140-8EB9-D00A0FF39B7A}" type="datetimeFigureOut">
              <a:rPr lang="en-IN" smtClean="0"/>
              <a:t>05-06-2022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706545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FFD472B-3F04-4140-8EB9-D00A0FF39B7A}" type="datetimeFigureOut">
              <a:rPr lang="en-IN" smtClean="0"/>
              <a:t>05-06-2022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27740771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540470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620115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5732868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FD472B-3F04-4140-8EB9-D00A0FF39B7A}" type="datetimeFigureOut">
              <a:rPr lang="en-IN" smtClean="0"/>
              <a:t>05-06-2022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7532927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FFD472B-3F04-4140-8EB9-D00A0FF39B7A}" type="datetimeFigureOut">
              <a:rPr lang="en-IN" smtClean="0"/>
              <a:t>05-06-2022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4032691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3717949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076399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3644894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35922137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8734982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18851542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FFD472B-3F04-4140-8EB9-D00A0FF39B7A}" type="datetimeFigureOut">
              <a:rPr lang="en-IN" smtClean="0"/>
              <a:t>05-06-2022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E44B540-F12B-4CFB-82DE-9978E36B7AED}" type="slidenum">
              <a:rPr lang="en-IN" smtClean="0"/>
              <a:t>‹#›</a:t>
            </a:fld>
            <a:endParaRPr lang="en-IN"/>
          </a:p>
        </p:txBody>
      </p:sp>
    </p:spTree>
    <p:extLst>
      <p:ext uri="{BB962C8B-B14F-4D97-AF65-F5344CB8AC3E}">
        <p14:creationId xmlns:p14="http://schemas.microsoft.com/office/powerpoint/2010/main" val="8483288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FFFD472B-3F04-4140-8EB9-D00A0FF39B7A}" type="datetimeFigureOut">
              <a:rPr lang="en-IN" smtClean="0"/>
              <a:t>05-06-2022</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3E44B540-F12B-4CFB-82DE-9978E36B7AED}" type="slidenum">
              <a:rPr lang="en-IN" smtClean="0"/>
              <a:t>‹#›</a:t>
            </a:fld>
            <a:endParaRPr lang="en-IN"/>
          </a:p>
        </p:txBody>
      </p:sp>
    </p:spTree>
    <p:extLst>
      <p:ext uri="{BB962C8B-B14F-4D97-AF65-F5344CB8AC3E}">
        <p14:creationId xmlns:p14="http://schemas.microsoft.com/office/powerpoint/2010/main" val="2487114585"/>
      </p:ext>
    </p:extLst>
  </p:cSld>
  <p:clrMap bg1="dk1" tx1="lt1" bg2="dk2" tx2="lt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D655F-E6EE-438E-9494-470CD0167DBE}"/>
              </a:ext>
            </a:extLst>
          </p:cNvPr>
          <p:cNvSpPr>
            <a:spLocks noGrp="1"/>
          </p:cNvSpPr>
          <p:nvPr>
            <p:ph type="ctrTitle"/>
          </p:nvPr>
        </p:nvSpPr>
        <p:spPr>
          <a:xfrm>
            <a:off x="1734429" y="1106387"/>
            <a:ext cx="8723141" cy="2322613"/>
          </a:xfrm>
        </p:spPr>
        <p:txBody>
          <a:bodyPr>
            <a:normAutofit/>
          </a:bodyPr>
          <a:lstStyle/>
          <a:p>
            <a:pPr algn="ctr"/>
            <a:r>
              <a:rPr lang="en-US" sz="4800" b="1" dirty="0"/>
              <a:t>Electronic Voting Machine with fingerprint and facial recognition</a:t>
            </a:r>
            <a:endParaRPr lang="en-IN" sz="4800" b="1" dirty="0"/>
          </a:p>
        </p:txBody>
      </p:sp>
      <p:sp>
        <p:nvSpPr>
          <p:cNvPr id="3" name="Subtitle 2">
            <a:extLst>
              <a:ext uri="{FF2B5EF4-FFF2-40B4-BE49-F238E27FC236}">
                <a16:creationId xmlns:a16="http://schemas.microsoft.com/office/drawing/2014/main" id="{BFC9961E-8CD6-4F05-8B38-E802CE0CA1E1}"/>
              </a:ext>
            </a:extLst>
          </p:cNvPr>
          <p:cNvSpPr>
            <a:spLocks noGrp="1"/>
          </p:cNvSpPr>
          <p:nvPr>
            <p:ph type="subTitle" idx="1"/>
          </p:nvPr>
        </p:nvSpPr>
        <p:spPr>
          <a:xfrm>
            <a:off x="484581" y="4388360"/>
            <a:ext cx="4057136" cy="1414805"/>
          </a:xfrm>
        </p:spPr>
        <p:txBody>
          <a:bodyPr>
            <a:normAutofit/>
          </a:bodyPr>
          <a:lstStyle/>
          <a:p>
            <a:r>
              <a:rPr lang="en-US" b="1" dirty="0">
                <a:solidFill>
                  <a:schemeClr val="tx1"/>
                </a:solidFill>
              </a:rPr>
              <a:t>Guided By;</a:t>
            </a:r>
          </a:p>
          <a:p>
            <a:r>
              <a:rPr lang="en-US" sz="1800" b="1" dirty="0">
                <a:solidFill>
                  <a:schemeClr val="tx1"/>
                </a:solidFill>
              </a:rPr>
              <a:t>Kanagaraj G</a:t>
            </a:r>
          </a:p>
          <a:p>
            <a:r>
              <a:rPr lang="en-US" sz="1800" b="1" dirty="0"/>
              <a:t>(AP/ECE)</a:t>
            </a:r>
            <a:endParaRPr lang="en-US" sz="1800" b="1" dirty="0">
              <a:solidFill>
                <a:schemeClr val="tx1"/>
              </a:solidFill>
            </a:endParaRPr>
          </a:p>
        </p:txBody>
      </p:sp>
      <p:sp>
        <p:nvSpPr>
          <p:cNvPr id="4" name="TextBox 3">
            <a:extLst>
              <a:ext uri="{FF2B5EF4-FFF2-40B4-BE49-F238E27FC236}">
                <a16:creationId xmlns:a16="http://schemas.microsoft.com/office/drawing/2014/main" id="{023F5040-E8AA-4B74-BA23-133F88918A92}"/>
              </a:ext>
            </a:extLst>
          </p:cNvPr>
          <p:cNvSpPr txBox="1"/>
          <p:nvPr/>
        </p:nvSpPr>
        <p:spPr>
          <a:xfrm>
            <a:off x="7650285" y="4388360"/>
            <a:ext cx="5029200" cy="1477328"/>
          </a:xfrm>
          <a:prstGeom prst="rect">
            <a:avLst/>
          </a:prstGeom>
          <a:noFill/>
        </p:spPr>
        <p:txBody>
          <a:bodyPr wrap="square" rtlCol="0">
            <a:spAutoFit/>
          </a:bodyPr>
          <a:lstStyle/>
          <a:p>
            <a:r>
              <a:rPr lang="en-US" b="1" dirty="0"/>
              <a:t>Presented by;</a:t>
            </a:r>
          </a:p>
          <a:p>
            <a:pPr marL="447675"/>
            <a:r>
              <a:rPr lang="en-IN" dirty="0"/>
              <a:t>	Bharath G             [620118106015]</a:t>
            </a:r>
          </a:p>
          <a:p>
            <a:r>
              <a:rPr lang="en-IN" dirty="0"/>
              <a:t>	Kalaiarasan M.K   [620118106034]</a:t>
            </a:r>
          </a:p>
          <a:p>
            <a:r>
              <a:rPr lang="en-IN" dirty="0"/>
              <a:t>	Mubarak Ali S.Y    [620118106056]</a:t>
            </a:r>
          </a:p>
          <a:p>
            <a:r>
              <a:rPr lang="en-IN" dirty="0"/>
              <a:t>	Ajay R 	                [620118106003]</a:t>
            </a:r>
          </a:p>
        </p:txBody>
      </p:sp>
    </p:spTree>
    <p:extLst>
      <p:ext uri="{BB962C8B-B14F-4D97-AF65-F5344CB8AC3E}">
        <p14:creationId xmlns:p14="http://schemas.microsoft.com/office/powerpoint/2010/main" val="24060877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F0AEC5-F28F-424B-B93F-6FDA467A18FB}"/>
              </a:ext>
            </a:extLst>
          </p:cNvPr>
          <p:cNvSpPr>
            <a:spLocks noGrp="1"/>
          </p:cNvSpPr>
          <p:nvPr>
            <p:ph type="title"/>
          </p:nvPr>
        </p:nvSpPr>
        <p:spPr/>
        <p:txBody>
          <a:bodyPr/>
          <a:lstStyle/>
          <a:p>
            <a:r>
              <a:rPr lang="en-US" sz="3200" b="1" dirty="0">
                <a:latin typeface="Times New Roman" panose="02020603050405020304" pitchFamily="18" charset="0"/>
                <a:cs typeface="Times New Roman" panose="02020603050405020304" pitchFamily="18" charset="0"/>
              </a:rPr>
              <a:t>Objective</a:t>
            </a:r>
            <a:r>
              <a:rPr lang="en-US" b="1"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53DAC076-25ED-4197-9332-9A52873B85F8}"/>
              </a:ext>
            </a:extLst>
          </p:cNvPr>
          <p:cNvSpPr>
            <a:spLocks noGrp="1"/>
          </p:cNvSpPr>
          <p:nvPr>
            <p:ph idx="1"/>
          </p:nvPr>
        </p:nvSpPr>
        <p:spPr>
          <a:xfrm>
            <a:off x="1497012" y="1738948"/>
            <a:ext cx="8946541" cy="4195481"/>
          </a:xfrm>
        </p:spPr>
        <p:txBody>
          <a:bodyPr>
            <a:normAutofit/>
          </a:bodyPr>
          <a:lstStyle/>
          <a:p>
            <a:r>
              <a:rPr lang="en-US" sz="2400" dirty="0">
                <a:latin typeface="Times New Roman" panose="02020603050405020304" pitchFamily="18" charset="0"/>
                <a:cs typeface="Times New Roman" panose="02020603050405020304" pitchFamily="18" charset="0"/>
              </a:rPr>
              <a:t>To improve the Security of the election process.</a:t>
            </a:r>
          </a:p>
          <a:p>
            <a:r>
              <a:rPr lang="en-US" sz="2400" dirty="0">
                <a:latin typeface="Times New Roman" panose="02020603050405020304" pitchFamily="18" charset="0"/>
                <a:cs typeface="Times New Roman" panose="02020603050405020304" pitchFamily="18" charset="0"/>
              </a:rPr>
              <a:t>Our project verify the voters identify by using fingerprint sensor and facial recognition.</a:t>
            </a:r>
          </a:p>
          <a:p>
            <a:r>
              <a:rPr lang="en-US" sz="2400" dirty="0">
                <a:latin typeface="Times New Roman" panose="02020603050405020304" pitchFamily="18" charset="0"/>
                <a:cs typeface="Times New Roman" panose="02020603050405020304" pitchFamily="18" charset="0"/>
              </a:rPr>
              <a:t>Main objective is to avoid the corruption process in the election like manipulation of votes.</a:t>
            </a:r>
          </a:p>
        </p:txBody>
      </p:sp>
    </p:spTree>
    <p:extLst>
      <p:ext uri="{BB962C8B-B14F-4D97-AF65-F5344CB8AC3E}">
        <p14:creationId xmlns:p14="http://schemas.microsoft.com/office/powerpoint/2010/main" val="38067576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F9C56DC-C915-4C45-B44E-4FCD7B4525BB}"/>
              </a:ext>
            </a:extLst>
          </p:cNvPr>
          <p:cNvSpPr txBox="1"/>
          <p:nvPr/>
        </p:nvSpPr>
        <p:spPr>
          <a:xfrm>
            <a:off x="482600" y="850900"/>
            <a:ext cx="7200900"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Abstract:</a:t>
            </a:r>
            <a:endParaRPr lang="en-IN" sz="32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D32B7DF-3D38-4760-AF14-5604FB926DE9}"/>
              </a:ext>
            </a:extLst>
          </p:cNvPr>
          <p:cNvSpPr txBox="1"/>
          <p:nvPr/>
        </p:nvSpPr>
        <p:spPr>
          <a:xfrm>
            <a:off x="1085850" y="1734572"/>
            <a:ext cx="10020300" cy="390395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Electronic Voting Machine (EVM) retains all the characteristics of voting by ballot papers, while making polling a lot more expedient.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Considerable amount of time, man power and money is saved as it is extremely fast and reliable. </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Voting secrecy is also maintained without use of ballot paper</a:t>
            </a:r>
          </a:p>
          <a:p>
            <a:pPr marL="342900" indent="-342900">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To ensure security and rights of the citizens we implemented finger print sensor and facial recognition for verification of the voter.</a:t>
            </a:r>
          </a:p>
        </p:txBody>
      </p:sp>
    </p:spTree>
    <p:extLst>
      <p:ext uri="{BB962C8B-B14F-4D97-AF65-F5344CB8AC3E}">
        <p14:creationId xmlns:p14="http://schemas.microsoft.com/office/powerpoint/2010/main" val="29475762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E34CAF6-DCE4-4A3B-B173-4B711FA61088}"/>
              </a:ext>
            </a:extLst>
          </p:cNvPr>
          <p:cNvGraphicFramePr>
            <a:graphicFrameLocks noGrp="1"/>
          </p:cNvGraphicFramePr>
          <p:nvPr>
            <p:extLst>
              <p:ext uri="{D42A27DB-BD31-4B8C-83A1-F6EECF244321}">
                <p14:modId xmlns:p14="http://schemas.microsoft.com/office/powerpoint/2010/main" val="1462748782"/>
              </p:ext>
            </p:extLst>
          </p:nvPr>
        </p:nvGraphicFramePr>
        <p:xfrm>
          <a:off x="149910" y="584775"/>
          <a:ext cx="11892165" cy="6096000"/>
        </p:xfrm>
        <a:graphic>
          <a:graphicData uri="http://schemas.openxmlformats.org/drawingml/2006/table">
            <a:tbl>
              <a:tblPr firstRow="1" bandRow="1">
                <a:tableStyleId>{5C22544A-7EE6-4342-B048-85BDC9FD1C3A}</a:tableStyleId>
              </a:tblPr>
              <a:tblGrid>
                <a:gridCol w="836459">
                  <a:extLst>
                    <a:ext uri="{9D8B030D-6E8A-4147-A177-3AD203B41FA5}">
                      <a16:colId xmlns:a16="http://schemas.microsoft.com/office/drawing/2014/main" val="2116754742"/>
                    </a:ext>
                  </a:extLst>
                </a:gridCol>
                <a:gridCol w="3449147">
                  <a:extLst>
                    <a:ext uri="{9D8B030D-6E8A-4147-A177-3AD203B41FA5}">
                      <a16:colId xmlns:a16="http://schemas.microsoft.com/office/drawing/2014/main" val="2231753211"/>
                    </a:ext>
                  </a:extLst>
                </a:gridCol>
                <a:gridCol w="1255594">
                  <a:extLst>
                    <a:ext uri="{9D8B030D-6E8A-4147-A177-3AD203B41FA5}">
                      <a16:colId xmlns:a16="http://schemas.microsoft.com/office/drawing/2014/main" val="3426501478"/>
                    </a:ext>
                  </a:extLst>
                </a:gridCol>
                <a:gridCol w="3643953">
                  <a:extLst>
                    <a:ext uri="{9D8B030D-6E8A-4147-A177-3AD203B41FA5}">
                      <a16:colId xmlns:a16="http://schemas.microsoft.com/office/drawing/2014/main" val="3205494145"/>
                    </a:ext>
                  </a:extLst>
                </a:gridCol>
                <a:gridCol w="2707012">
                  <a:extLst>
                    <a:ext uri="{9D8B030D-6E8A-4147-A177-3AD203B41FA5}">
                      <a16:colId xmlns:a16="http://schemas.microsoft.com/office/drawing/2014/main" val="3383872884"/>
                    </a:ext>
                  </a:extLst>
                </a:gridCol>
              </a:tblGrid>
              <a:tr h="524373">
                <a:tc>
                  <a:txBody>
                    <a:bodyPr/>
                    <a:lstStyle/>
                    <a:p>
                      <a:pPr algn="ctr"/>
                      <a:r>
                        <a:rPr lang="en-US" sz="1600" b="1" dirty="0">
                          <a:latin typeface="Times New Roman" panose="02020603050405020304" pitchFamily="18" charset="0"/>
                          <a:cs typeface="Times New Roman" panose="02020603050405020304" pitchFamily="18" charset="0"/>
                        </a:rPr>
                        <a:t>Sl.No</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Paper Title and Author</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Year of Publication</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Advantages</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Drawback</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649419302"/>
                  </a:ext>
                </a:extLst>
              </a:tr>
              <a:tr h="524373">
                <a:tc>
                  <a:txBody>
                    <a:bodyPr/>
                    <a:lstStyle/>
                    <a:p>
                      <a:r>
                        <a:rPr lang="en-US" sz="1600" b="1" dirty="0">
                          <a:latin typeface="Times New Roman" panose="02020603050405020304" pitchFamily="18" charset="0"/>
                          <a:cs typeface="Times New Roman" panose="02020603050405020304" pitchFamily="18" charset="0"/>
                        </a:rPr>
                        <a:t>1</a:t>
                      </a:r>
                      <a:endParaRPr lang="en-IN" sz="1600" b="1" dirty="0">
                        <a:latin typeface="Times New Roman" panose="02020603050405020304" pitchFamily="18" charset="0"/>
                        <a:cs typeface="Times New Roman" panose="02020603050405020304" pitchFamily="18" charset="0"/>
                      </a:endParaRPr>
                    </a:p>
                  </a:txBody>
                  <a:tcPr/>
                </a:tc>
                <a:tc>
                  <a:txBody>
                    <a:bodyPr/>
                    <a:lstStyle/>
                    <a:p>
                      <a:pPr algn="l"/>
                      <a:r>
                        <a:rPr lang="en-IN" sz="1600" b="1" dirty="0">
                          <a:latin typeface="Times New Roman" panose="02020603050405020304" pitchFamily="18" charset="0"/>
                          <a:cs typeface="Times New Roman" panose="02020603050405020304" pitchFamily="18" charset="0"/>
                        </a:rPr>
                        <a:t>Electronic Voting Machine.</a:t>
                      </a:r>
                    </a:p>
                    <a:p>
                      <a:pPr algn="r"/>
                      <a:r>
                        <a:rPr lang="en-IN" sz="1200" dirty="0">
                          <a:latin typeface="Times New Roman" panose="02020603050405020304" pitchFamily="18" charset="0"/>
                          <a:cs typeface="Times New Roman" panose="02020603050405020304" pitchFamily="18" charset="0"/>
                        </a:rPr>
                        <a:t>-D. Ashok Kumar</a:t>
                      </a:r>
                      <a:endParaRPr lang="en-IN" sz="16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2012</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Better than Ballot voting system.</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The difficult task is the complexity of system.</a:t>
                      </a:r>
                    </a:p>
                  </a:txBody>
                  <a:tcPr/>
                </a:tc>
                <a:extLst>
                  <a:ext uri="{0D108BD9-81ED-4DB2-BD59-A6C34878D82A}">
                    <a16:rowId xmlns:a16="http://schemas.microsoft.com/office/drawing/2014/main" val="4098785117"/>
                  </a:ext>
                </a:extLst>
              </a:tr>
              <a:tr h="965950">
                <a:tc>
                  <a:txBody>
                    <a:bodyPr/>
                    <a:lstStyle/>
                    <a:p>
                      <a:r>
                        <a:rPr lang="en-US" sz="1600" b="1" dirty="0">
                          <a:latin typeface="Times New Roman" panose="02020603050405020304" pitchFamily="18" charset="0"/>
                          <a:cs typeface="Times New Roman" panose="02020603050405020304" pitchFamily="18" charset="0"/>
                        </a:rPr>
                        <a:t>2</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High Performance Electronic Voting Machine (EVM) Implementation Using ARM Cortex M3 .</a:t>
                      </a:r>
                    </a:p>
                    <a:p>
                      <a:pPr algn="r"/>
                      <a:r>
                        <a:rPr lang="en-IN" sz="1200" b="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Avinashi N J</a:t>
                      </a:r>
                      <a:endParaRPr lang="en-IN" sz="1200" b="1" dirty="0">
                        <a:latin typeface="Times New Roman" panose="02020603050405020304" pitchFamily="18" charset="0"/>
                        <a:cs typeface="Times New Roman" panose="02020603050405020304" pitchFamily="18" charset="0"/>
                      </a:endParaRPr>
                    </a:p>
                  </a:txBody>
                  <a:tcPr/>
                </a:tc>
                <a:tc>
                  <a:txBody>
                    <a:bodyPr/>
                    <a:lstStyle/>
                    <a:p>
                      <a:pPr algn="ctr"/>
                      <a:r>
                        <a:rPr lang="en-US" sz="1600" b="1" dirty="0">
                          <a:latin typeface="Times New Roman" panose="02020603050405020304" pitchFamily="18" charset="0"/>
                          <a:cs typeface="Times New Roman" panose="02020603050405020304" pitchFamily="18" charset="0"/>
                        </a:rPr>
                        <a:t>2020</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b="1" dirty="0">
                          <a:latin typeface="Times New Roman" panose="02020603050405020304" pitchFamily="18" charset="0"/>
                          <a:cs typeface="Times New Roman" panose="02020603050405020304" pitchFamily="18" charset="0"/>
                        </a:rPr>
                        <a:t>Final vote count display are password protected.</a:t>
                      </a:r>
                    </a:p>
                  </a:txBody>
                  <a:tcPr/>
                </a:tc>
                <a:tc>
                  <a:txBody>
                    <a:bodyPr/>
                    <a:lstStyle/>
                    <a:p>
                      <a:pPr marL="285750" indent="-285750">
                        <a:buFont typeface="Arial" panose="020B0604020202020204" pitchFamily="34" charset="0"/>
                        <a:buChar char="•"/>
                      </a:pPr>
                      <a:r>
                        <a:rPr lang="en-US" sz="1600" b="1" dirty="0">
                          <a:latin typeface="Times New Roman" panose="02020603050405020304" pitchFamily="18" charset="0"/>
                          <a:cs typeface="Times New Roman" panose="02020603050405020304" pitchFamily="18" charset="0"/>
                        </a:rPr>
                        <a:t>Not enough security.</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03446616"/>
                  </a:ext>
                </a:extLst>
              </a:tr>
              <a:tr h="1186738">
                <a:tc>
                  <a:txBody>
                    <a:bodyPr/>
                    <a:lstStyle/>
                    <a:p>
                      <a:r>
                        <a:rPr lang="en-US" sz="1600" b="1" dirty="0">
                          <a:latin typeface="Times New Roman" panose="02020603050405020304" pitchFamily="18" charset="0"/>
                          <a:cs typeface="Times New Roman" panose="02020603050405020304" pitchFamily="18" charset="0"/>
                        </a:rPr>
                        <a:t>3</a:t>
                      </a:r>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Design and implementation of convenient and compulsory voting system using finger print sensor and GSM technologies .</a:t>
                      </a:r>
                    </a:p>
                    <a:p>
                      <a:pPr marL="0" marR="0" lvl="0" indent="0" algn="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Shubhranil Chakraborty</a:t>
                      </a:r>
                      <a:endParaRPr lang="en-IN" sz="1200" b="1" dirty="0">
                        <a:latin typeface="Times New Roman" panose="02020603050405020304" pitchFamily="18" charset="0"/>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2020</a:t>
                      </a:r>
                      <a:endParaRPr lang="en-IN" sz="1600" b="1" dirty="0">
                        <a:latin typeface="Times New Roman" panose="02020603050405020304" pitchFamily="18" charset="0"/>
                        <a:cs typeface="Times New Roman" panose="02020603050405020304" pitchFamily="18" charset="0"/>
                      </a:endParaRP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1" dirty="0">
                          <a:latin typeface="Times New Roman" panose="02020603050405020304" pitchFamily="18" charset="0"/>
                          <a:cs typeface="Times New Roman" panose="02020603050405020304" pitchFamily="18" charset="0"/>
                        </a:rPr>
                        <a:t>FP secured, GSM based data sharing &amp; reduced Vote counting time</a:t>
                      </a:r>
                      <a:r>
                        <a:rPr lang="en-IN" sz="1600" b="1" dirty="0">
                          <a:latin typeface="Times New Roman" panose="02020603050405020304" pitchFamily="18" charset="0"/>
                          <a:cs typeface="Times New Roman" panose="02020603050405020304" pitchFamily="18" charset="0"/>
                        </a:rPr>
                        <a:t>.</a:t>
                      </a:r>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600" b="1" dirty="0">
                          <a:latin typeface="Times New Roman" panose="02020603050405020304" pitchFamily="18" charset="0"/>
                          <a:cs typeface="Times New Roman" panose="02020603050405020304" pitchFamily="18" charset="0"/>
                        </a:rPr>
                        <a:t>Suitable for Small Scale</a:t>
                      </a:r>
                      <a:endParaRPr lang="en-IN" sz="1600"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42104079"/>
                  </a:ext>
                </a:extLst>
              </a:tr>
              <a:tr h="745161">
                <a:tc>
                  <a:txBody>
                    <a:bodyPr/>
                    <a:lstStyle/>
                    <a:p>
                      <a:r>
                        <a:rPr lang="en-IN" sz="1600" b="1" dirty="0">
                          <a:latin typeface="Times New Roman" panose="02020603050405020304" pitchFamily="18" charset="0"/>
                          <a:cs typeface="Times New Roman" panose="02020603050405020304" pitchFamily="18" charset="0"/>
                        </a:rPr>
                        <a:t>4</a:t>
                      </a:r>
                    </a:p>
                  </a:txBody>
                  <a:tcPr/>
                </a:tc>
                <a:tc>
                  <a:txBody>
                    <a:bodyPr/>
                    <a:lstStyle/>
                    <a:p>
                      <a:r>
                        <a:rPr lang="en-US"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Smart Online Voting System.</a:t>
                      </a:r>
                    </a:p>
                    <a:p>
                      <a:pPr algn="r"/>
                      <a:r>
                        <a:rPr lang="en-US" sz="1200" b="1" i="0" u="none" strike="noStrike" kern="1200" baseline="0" dirty="0">
                          <a:solidFill>
                            <a:schemeClr val="dk1"/>
                          </a:solidFill>
                          <a:latin typeface="Times New Roman" panose="02020603050405020304" pitchFamily="18" charset="0"/>
                          <a:ea typeface="+mn-ea"/>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Ganesh Prabhu S</a:t>
                      </a:r>
                      <a:endParaRPr lang="en-IN" sz="12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2021</a:t>
                      </a:r>
                    </a:p>
                  </a:txBody>
                  <a:tcPr/>
                </a:tc>
                <a:tc>
                  <a:txBody>
                    <a:bodyPr/>
                    <a:lstStyle/>
                    <a:p>
                      <a:pPr marL="285750" indent="-285750">
                        <a:buFont typeface="Arial" panose="020B0604020202020204" pitchFamily="34" charset="0"/>
                        <a:buChar char="•"/>
                      </a:pPr>
                      <a:r>
                        <a:rPr lang="en-US" sz="1600" b="1" i="0" u="none" strike="noStrike" kern="1200" baseline="0" dirty="0">
                          <a:solidFill>
                            <a:schemeClr val="dk1"/>
                          </a:solidFill>
                          <a:latin typeface="Times New Roman" panose="02020603050405020304" pitchFamily="18" charset="0"/>
                          <a:ea typeface="+mn-ea"/>
                          <a:cs typeface="Times New Roman" panose="02020603050405020304" pitchFamily="18" charset="0"/>
                        </a:rPr>
                        <a:t>This system doesn’t require any hardware</a:t>
                      </a:r>
                    </a:p>
                  </a:txBody>
                  <a:tcPr/>
                </a:tc>
                <a:tc>
                  <a:txBody>
                    <a:bodyPr/>
                    <a:lstStyle/>
                    <a:p>
                      <a:pPr marL="285750" indent="-285750">
                        <a:buFont typeface="Arial" panose="020B0604020202020204" pitchFamily="34" charset="0"/>
                        <a:buChar char="•"/>
                      </a:pPr>
                      <a:r>
                        <a:rPr lang="en-IN" sz="1600" b="1" dirty="0">
                          <a:latin typeface="Times New Roman" panose="02020603050405020304" pitchFamily="18" charset="0"/>
                          <a:cs typeface="Times New Roman" panose="02020603050405020304" pitchFamily="18" charset="0"/>
                        </a:rPr>
                        <a:t>Servers </a:t>
                      </a:r>
                      <a:r>
                        <a:rPr lang="en-US" sz="1600" b="1" dirty="0">
                          <a:latin typeface="Times New Roman" panose="02020603050405020304" pitchFamily="18" charset="0"/>
                          <a:cs typeface="Times New Roman" panose="02020603050405020304" pitchFamily="18" charset="0"/>
                        </a:rPr>
                        <a:t>need to be secure and withstand against various attacks </a:t>
                      </a:r>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77163380"/>
                  </a:ext>
                </a:extLst>
              </a:tr>
              <a:tr h="1041720">
                <a:tc>
                  <a:txBody>
                    <a:bodyPr/>
                    <a:lstStyle/>
                    <a:p>
                      <a:r>
                        <a:rPr lang="en-IN" sz="1600" b="1" dirty="0">
                          <a:latin typeface="Times New Roman" panose="02020603050405020304" pitchFamily="18" charset="0"/>
                          <a:cs typeface="Times New Roman" panose="02020603050405020304" pitchFamily="18" charset="0"/>
                        </a:rPr>
                        <a:t>5</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The Next Gen Election: Design and Development of E-Voting Web Application.</a:t>
                      </a:r>
                    </a:p>
                    <a:p>
                      <a:pPr marL="0" marR="0" lvl="0" indent="0" algn="r" defTabSz="457200" rtl="0" eaLnBrk="1" fontAlgn="auto" latinLnBrk="0" hangingPunct="1">
                        <a:lnSpc>
                          <a:spcPct val="100000"/>
                        </a:lnSpc>
                        <a:spcBef>
                          <a:spcPts val="0"/>
                        </a:spcBef>
                        <a:spcAft>
                          <a:spcPts val="0"/>
                        </a:spcAft>
                        <a:buClrTx/>
                        <a:buSzTx/>
                        <a:buFontTx/>
                        <a:buNone/>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a:t>
                      </a:r>
                      <a:r>
                        <a:rPr lang="en-IN" sz="1200" dirty="0">
                          <a:latin typeface="Times New Roman" panose="02020603050405020304" pitchFamily="18" charset="0"/>
                          <a:cs typeface="Times New Roman" panose="02020603050405020304" pitchFamily="18" charset="0"/>
                        </a:rPr>
                        <a:t>Raghav Chhabra</a:t>
                      </a:r>
                      <a:endParaRPr lang="en-IN" sz="1200" b="1" kern="1200" dirty="0">
                        <a:solidFill>
                          <a:schemeClr val="dk1"/>
                        </a:solidFill>
                        <a:effectLst/>
                        <a:latin typeface="Times New Roman" panose="02020603050405020304" pitchFamily="18" charset="0"/>
                        <a:ea typeface="+mn-ea"/>
                        <a:cs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b="1"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600" b="1" dirty="0">
                          <a:latin typeface="Times New Roman" panose="02020603050405020304" pitchFamily="18" charset="0"/>
                          <a:cs typeface="Times New Roman" panose="02020603050405020304" pitchFamily="18" charset="0"/>
                        </a:rPr>
                        <a:t>2020</a:t>
                      </a:r>
                    </a:p>
                  </a:txBody>
                  <a:tcPr/>
                </a:tc>
                <a:tc>
                  <a:txBody>
                    <a:bodyPr/>
                    <a:lstStyle/>
                    <a:p>
                      <a:pPr marL="285750" indent="-285750">
                        <a:buFont typeface="Arial" panose="020B0604020202020204" pitchFamily="34" charset="0"/>
                        <a:buChar cha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Database is stored in an undisclosed location </a:t>
                      </a:r>
                    </a:p>
                    <a:p>
                      <a:pPr marL="285750" indent="-285750">
                        <a:buFont typeface="Arial" panose="020B0604020202020204" pitchFamily="34" charset="0"/>
                        <a:buChar cha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Officials of the Election Commission of India know the exact location</a:t>
                      </a:r>
                      <a:endParaRPr lang="en-US" sz="1600" b="1" i="0" u="none" strike="noStrike" kern="1200" baseline="0" dirty="0">
                        <a:solidFill>
                          <a:schemeClr val="dk1"/>
                        </a:solidFill>
                        <a:latin typeface="Times New Roman" panose="02020603050405020304" pitchFamily="18" charset="0"/>
                        <a:ea typeface="+mn-ea"/>
                        <a:cs typeface="Times New Roman" panose="02020603050405020304" pitchFamily="18" charset="0"/>
                      </a:endParaRPr>
                    </a:p>
                  </a:txBody>
                  <a:tcP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Time involvement is high.</a:t>
                      </a:r>
                      <a:endParaRPr lang="en-US" sz="1600" b="1" kern="1200" dirty="0">
                        <a:solidFill>
                          <a:schemeClr val="dk1"/>
                        </a:solidFill>
                        <a:effectLst/>
                        <a:latin typeface="Times New Roman" panose="02020603050405020304" pitchFamily="18" charset="0"/>
                        <a:ea typeface="+mn-ea"/>
                        <a:cs typeface="Times New Roman" panose="02020603050405020304" pitchFamily="18"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600" b="1" kern="1200" dirty="0">
                          <a:solidFill>
                            <a:schemeClr val="dk1"/>
                          </a:solidFill>
                          <a:effectLst/>
                          <a:latin typeface="Times New Roman" panose="02020603050405020304" pitchFamily="18" charset="0"/>
                          <a:ea typeface="+mn-ea"/>
                          <a:cs typeface="Times New Roman" panose="02020603050405020304" pitchFamily="18" charset="0"/>
                        </a:rPr>
                        <a:t>Heavy and repetitive task of  vote management.</a:t>
                      </a:r>
                      <a:endParaRPr lang="en-US" sz="1600" b="1" kern="1200" dirty="0">
                        <a:solidFill>
                          <a:schemeClr val="dk1"/>
                        </a:solidFill>
                        <a:effectLst/>
                        <a:latin typeface="Times New Roman" panose="02020603050405020304" pitchFamily="18" charset="0"/>
                        <a:ea typeface="+mn-ea"/>
                        <a:cs typeface="Times New Roman" panose="02020603050405020304" pitchFamily="18" charset="0"/>
                      </a:endParaRPr>
                    </a:p>
                    <a:p>
                      <a:endParaRPr lang="en-IN" sz="16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52290222"/>
                  </a:ext>
                </a:extLst>
              </a:tr>
            </a:tbl>
          </a:graphicData>
        </a:graphic>
      </p:graphicFrame>
      <p:sp>
        <p:nvSpPr>
          <p:cNvPr id="6" name="TextBox 5">
            <a:extLst>
              <a:ext uri="{FF2B5EF4-FFF2-40B4-BE49-F238E27FC236}">
                <a16:creationId xmlns:a16="http://schemas.microsoft.com/office/drawing/2014/main" id="{DFB26A8A-EA4F-4A70-B56F-4AA9281AC805}"/>
              </a:ext>
            </a:extLst>
          </p:cNvPr>
          <p:cNvSpPr txBox="1"/>
          <p:nvPr/>
        </p:nvSpPr>
        <p:spPr>
          <a:xfrm>
            <a:off x="370150" y="0"/>
            <a:ext cx="11451687"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Literature Survey:</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3744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003630B-4996-4601-AB38-8696D9D03527}"/>
              </a:ext>
            </a:extLst>
          </p:cNvPr>
          <p:cNvSpPr txBox="1"/>
          <p:nvPr/>
        </p:nvSpPr>
        <p:spPr>
          <a:xfrm>
            <a:off x="715207" y="640081"/>
            <a:ext cx="3338178"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Existing  System</a:t>
            </a:r>
            <a:r>
              <a:rPr lang="en-US" sz="3200" dirty="0">
                <a:latin typeface="Times New Roman" panose="02020603050405020304" pitchFamily="18" charset="0"/>
                <a:cs typeface="Times New Roman" panose="02020603050405020304" pitchFamily="18" charset="0"/>
              </a:rPr>
              <a:t>:</a:t>
            </a:r>
          </a:p>
        </p:txBody>
      </p:sp>
      <p:sp>
        <p:nvSpPr>
          <p:cNvPr id="3" name="TextBox 2">
            <a:extLst>
              <a:ext uri="{FF2B5EF4-FFF2-40B4-BE49-F238E27FC236}">
                <a16:creationId xmlns:a16="http://schemas.microsoft.com/office/drawing/2014/main" id="{9DE37887-EAFA-40A9-ACC6-A8075DA138C3}"/>
              </a:ext>
            </a:extLst>
          </p:cNvPr>
          <p:cNvSpPr txBox="1"/>
          <p:nvPr/>
        </p:nvSpPr>
        <p:spPr>
          <a:xfrm>
            <a:off x="892628" y="1375787"/>
            <a:ext cx="10367555" cy="50119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The existing voting system, doesn’t have person image identification, so that there are chances to misuse the others rights.</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counting of votes takes some weeks after voting so insider or criminal can use the clip-on device to change the votes recorded in EVM.</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The limitation of this system is present in its fingerprint acquisition process.</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 Since the finger print gets tampered due to age, work and other factors such as skin problems, wet hands. so that the system may lags to recognize them.</a:t>
            </a:r>
          </a:p>
          <a:p>
            <a:pPr marL="342900" indent="-342900">
              <a:lnSpc>
                <a:spcPct val="150000"/>
              </a:lnSpc>
              <a:buFont typeface="Arial" panose="020B0604020202020204" pitchFamily="34" charset="0"/>
              <a:buChar char="•"/>
            </a:pPr>
            <a:r>
              <a:rPr lang="en-US" sz="2400" b="0" i="0" dirty="0">
                <a:effectLst/>
                <a:latin typeface="Times New Roman" panose="02020603050405020304" pitchFamily="18" charset="0"/>
                <a:cs typeface="Times New Roman" panose="02020603050405020304" pitchFamily="18" charset="0"/>
              </a:rPr>
              <a:t>Also this system contains two parts, control unit and ballot unit, so </a:t>
            </a:r>
            <a:r>
              <a:rPr lang="en-US" sz="2400" b="0" i="0" dirty="0" err="1">
                <a:effectLst/>
                <a:latin typeface="Times New Roman" panose="02020603050405020304" pitchFamily="18" charset="0"/>
                <a:cs typeface="Times New Roman" panose="02020603050405020304" pitchFamily="18" charset="0"/>
              </a:rPr>
              <a:t>its</a:t>
            </a:r>
            <a:r>
              <a:rPr lang="en-US" sz="2400" b="0" i="0" dirty="0">
                <a:effectLst/>
                <a:latin typeface="Times New Roman" panose="02020603050405020304" pitchFamily="18" charset="0"/>
                <a:cs typeface="Times New Roman" panose="02020603050405020304" pitchFamily="18" charset="0"/>
              </a:rPr>
              <a:t> hard to maintain these two parts. </a:t>
            </a:r>
          </a:p>
        </p:txBody>
      </p:sp>
    </p:spTree>
    <p:extLst>
      <p:ext uri="{BB962C8B-B14F-4D97-AF65-F5344CB8AC3E}">
        <p14:creationId xmlns:p14="http://schemas.microsoft.com/office/powerpoint/2010/main" val="1617028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F6AB1FA-4FD6-41AD-9A75-E204319BD98A}"/>
              </a:ext>
            </a:extLst>
          </p:cNvPr>
          <p:cNvPicPr>
            <a:picLocks noChangeAspect="1"/>
          </p:cNvPicPr>
          <p:nvPr/>
        </p:nvPicPr>
        <p:blipFill>
          <a:blip r:embed="rId2"/>
          <a:stretch>
            <a:fillRect/>
          </a:stretch>
        </p:blipFill>
        <p:spPr>
          <a:xfrm>
            <a:off x="2264558" y="1452451"/>
            <a:ext cx="7662884" cy="4893624"/>
          </a:xfrm>
          <a:prstGeom prst="rect">
            <a:avLst/>
          </a:prstGeom>
        </p:spPr>
      </p:pic>
      <p:sp>
        <p:nvSpPr>
          <p:cNvPr id="5" name="TextBox 4">
            <a:extLst>
              <a:ext uri="{FF2B5EF4-FFF2-40B4-BE49-F238E27FC236}">
                <a16:creationId xmlns:a16="http://schemas.microsoft.com/office/drawing/2014/main" id="{F9B46EC9-A928-40D7-9D22-B01690283587}"/>
              </a:ext>
            </a:extLst>
          </p:cNvPr>
          <p:cNvSpPr txBox="1"/>
          <p:nvPr/>
        </p:nvSpPr>
        <p:spPr>
          <a:xfrm>
            <a:off x="1001486" y="511925"/>
            <a:ext cx="5094514"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Existing System:</a:t>
            </a:r>
          </a:p>
        </p:txBody>
      </p:sp>
    </p:spTree>
    <p:extLst>
      <p:ext uri="{BB962C8B-B14F-4D97-AF65-F5344CB8AC3E}">
        <p14:creationId xmlns:p14="http://schemas.microsoft.com/office/powerpoint/2010/main" val="958661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EF9142A-52A8-4CA4-AB32-247D1FD2890E}"/>
              </a:ext>
            </a:extLst>
          </p:cNvPr>
          <p:cNvSpPr txBox="1"/>
          <p:nvPr/>
        </p:nvSpPr>
        <p:spPr>
          <a:xfrm>
            <a:off x="847106" y="1300781"/>
            <a:ext cx="10497788" cy="5011949"/>
          </a:xfrm>
          <a:prstGeom prst="rect">
            <a:avLst/>
          </a:prstGeom>
          <a:noFill/>
        </p:spPr>
        <p:txBody>
          <a:bodyPr wrap="square" rtlCol="0">
            <a:spAutoFit/>
          </a:bodyPr>
          <a:lstStyle/>
          <a:p>
            <a:pPr marL="342900" indent="-342900" algn="just">
              <a:lnSpc>
                <a:spcPct val="150000"/>
              </a:lnSpc>
              <a:buFont typeface="Arial" panose="020B0604020202020204" pitchFamily="34" charset="0"/>
              <a:buChar char="•"/>
            </a:pPr>
            <a:r>
              <a:rPr lang="en-US" sz="2400" u="none" strike="noStrike" baseline="0" dirty="0">
                <a:latin typeface="Times New Roman" panose="02020603050405020304" pitchFamily="18" charset="0"/>
              </a:rPr>
              <a:t>In this project, an attempt has been made to the development of an authenticated electronic voting system using fingerprint and facial </a:t>
            </a:r>
            <a:r>
              <a:rPr lang="en-US" sz="2400" dirty="0">
                <a:latin typeface="Times New Roman" panose="02020603050405020304" pitchFamily="18" charset="0"/>
              </a:rPr>
              <a:t>recognition.</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two-fold authentication system improves the security of the voting process and reduces the chances of a corrupt election process.</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 facial recognition process utilizes the Local Binary Pattern Histogram and Support Vector Machine process to scan, store and recognize faces efficiently.</a:t>
            </a:r>
            <a:endParaRPr lang="en-IN" sz="2400" dirty="0">
              <a:latin typeface="Times New Roman" panose="02020603050405020304" pitchFamily="18" charset="0"/>
              <a:cs typeface="Times New Roman" panose="02020603050405020304" pitchFamily="18" charset="0"/>
            </a:endParaRP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A private server (cloud or local) is used to store both the user data and the election results separately.</a:t>
            </a:r>
          </a:p>
          <a:p>
            <a:pPr marL="342900" indent="-342900" algn="just">
              <a:lnSpc>
                <a:spcPct val="15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This reduces the chances of external manipulation of the election results.</a:t>
            </a:r>
            <a:endParaRPr lang="en-IN" sz="2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813E1219-AAF8-4F2A-B1A1-5177BA401933}"/>
              </a:ext>
            </a:extLst>
          </p:cNvPr>
          <p:cNvSpPr txBox="1"/>
          <p:nvPr/>
        </p:nvSpPr>
        <p:spPr>
          <a:xfrm>
            <a:off x="847106" y="716006"/>
            <a:ext cx="3793905" cy="584775"/>
          </a:xfrm>
          <a:prstGeom prst="rect">
            <a:avLst/>
          </a:prstGeom>
          <a:noFill/>
        </p:spPr>
        <p:txBody>
          <a:bodyPr wrap="square" rtlCol="0">
            <a:spAutoFit/>
          </a:bodyPr>
          <a:lstStyle/>
          <a:p>
            <a:r>
              <a:rPr lang="en-US" sz="3200" b="1" dirty="0">
                <a:latin typeface="Times New Roman" panose="02020603050405020304" pitchFamily="18" charset="0"/>
                <a:cs typeface="Times New Roman" panose="02020603050405020304" pitchFamily="18" charset="0"/>
              </a:rPr>
              <a:t>Proposed System:</a:t>
            </a:r>
            <a:endParaRPr lang="en-IN" sz="32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2905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B6DE816-1B3A-4538-A607-A74063419562}"/>
              </a:ext>
            </a:extLst>
          </p:cNvPr>
          <p:cNvSpPr txBox="1"/>
          <p:nvPr/>
        </p:nvSpPr>
        <p:spPr>
          <a:xfrm>
            <a:off x="957262" y="1073408"/>
            <a:ext cx="4810125"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Advantages:</a:t>
            </a:r>
          </a:p>
        </p:txBody>
      </p:sp>
      <p:sp>
        <p:nvSpPr>
          <p:cNvPr id="3" name="TextBox 2">
            <a:extLst>
              <a:ext uri="{FF2B5EF4-FFF2-40B4-BE49-F238E27FC236}">
                <a16:creationId xmlns:a16="http://schemas.microsoft.com/office/drawing/2014/main" id="{AE609479-A6EE-4AC6-991B-9B0725233491}"/>
              </a:ext>
            </a:extLst>
          </p:cNvPr>
          <p:cNvSpPr txBox="1"/>
          <p:nvPr/>
        </p:nvSpPr>
        <p:spPr>
          <a:xfrm>
            <a:off x="1655762" y="2215687"/>
            <a:ext cx="10125075" cy="3349956"/>
          </a:xfrm>
          <a:prstGeom prst="rect">
            <a:avLst/>
          </a:prstGeom>
          <a:noFill/>
        </p:spPr>
        <p:txBody>
          <a:bodyPr wrap="square" rtlCol="0">
            <a:spAutoFit/>
          </a:bodyPr>
          <a:lstStyle/>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Preserves voting secrecy, No scope for invalid votes</a:t>
            </a:r>
          </a:p>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Highly tamper – proof.</a:t>
            </a:r>
          </a:p>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Manpower required Less.</a:t>
            </a:r>
          </a:p>
          <a:p>
            <a:pPr>
              <a:lnSpc>
                <a:spcPct val="150000"/>
              </a:lnSpc>
              <a:buFont typeface="Arial" pitchFamily="34" charset="0"/>
              <a:buChar char="•"/>
            </a:pPr>
            <a:r>
              <a:rPr lang="en-US" sz="2400" dirty="0">
                <a:latin typeface="Times New Roman" panose="02020603050405020304" pitchFamily="18" charset="0"/>
                <a:cs typeface="Times New Roman" panose="02020603050405020304" pitchFamily="18" charset="0"/>
              </a:rPr>
              <a:t>Avoids invalid voting as it prevents unregistered voters from voting. </a:t>
            </a:r>
          </a:p>
          <a:p>
            <a:pPr>
              <a:lnSpc>
                <a:spcPct val="150000"/>
              </a:lnSpc>
              <a:buFont typeface="Arial" pitchFamily="34" charset="0"/>
              <a:buChar char="•"/>
            </a:pPr>
            <a:r>
              <a:rPr lang="en-IN" sz="2400" dirty="0">
                <a:latin typeface="Times New Roman" panose="02020603050405020304" pitchFamily="18" charset="0"/>
                <a:cs typeface="Times New Roman" panose="02020603050405020304" pitchFamily="18" charset="0"/>
              </a:rPr>
              <a:t>Vote counting is digitalized so, counting process becomes lot more easier.</a:t>
            </a:r>
          </a:p>
          <a:p>
            <a:pPr marL="342900" indent="-342900">
              <a:lnSpc>
                <a:spcPct val="150000"/>
              </a:lnSpc>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6547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715FBDC-D873-42B3-B8DE-614C50D750E5}"/>
              </a:ext>
            </a:extLst>
          </p:cNvPr>
          <p:cNvSpPr/>
          <p:nvPr/>
        </p:nvSpPr>
        <p:spPr>
          <a:xfrm>
            <a:off x="2473275" y="1934428"/>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Power </a:t>
            </a:r>
          </a:p>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supply</a:t>
            </a:r>
          </a:p>
        </p:txBody>
      </p:sp>
      <p:sp>
        <p:nvSpPr>
          <p:cNvPr id="5" name="Rectangle 4">
            <a:extLst>
              <a:ext uri="{FF2B5EF4-FFF2-40B4-BE49-F238E27FC236}">
                <a16:creationId xmlns:a16="http://schemas.microsoft.com/office/drawing/2014/main" id="{9C505D52-BD13-4D38-8FEB-C67A6CB388C0}"/>
              </a:ext>
            </a:extLst>
          </p:cNvPr>
          <p:cNvSpPr/>
          <p:nvPr/>
        </p:nvSpPr>
        <p:spPr>
          <a:xfrm>
            <a:off x="5470125" y="1772110"/>
            <a:ext cx="1524000" cy="346057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Arduino</a:t>
            </a:r>
          </a:p>
          <a:p>
            <a:pPr algn="ctr" fontAlgn="auto">
              <a:spcBef>
                <a:spcPts val="0"/>
              </a:spcBef>
              <a:spcAft>
                <a:spcPts val="0"/>
              </a:spcAft>
              <a:defRPr/>
            </a:pPr>
            <a:r>
              <a:rPr lang="en-US" sz="2000" b="1" dirty="0">
                <a:latin typeface="Times New Roman" panose="02020603050405020304" pitchFamily="18" charset="0"/>
                <a:cs typeface="Times New Roman" panose="02020603050405020304" pitchFamily="18" charset="0"/>
              </a:rPr>
              <a:t>Mega</a:t>
            </a:r>
          </a:p>
        </p:txBody>
      </p:sp>
      <p:sp>
        <p:nvSpPr>
          <p:cNvPr id="6" name="Up Arrow 16">
            <a:extLst>
              <a:ext uri="{FF2B5EF4-FFF2-40B4-BE49-F238E27FC236}">
                <a16:creationId xmlns:a16="http://schemas.microsoft.com/office/drawing/2014/main" id="{3672B40F-2443-4D74-B219-AD4C42DF4275}"/>
              </a:ext>
            </a:extLst>
          </p:cNvPr>
          <p:cNvSpPr/>
          <p:nvPr/>
        </p:nvSpPr>
        <p:spPr>
          <a:xfrm rot="5400000">
            <a:off x="4602082" y="1830845"/>
            <a:ext cx="350838" cy="138524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0E34BE8F-E481-4651-AD3B-6791EFBEC390}"/>
              </a:ext>
            </a:extLst>
          </p:cNvPr>
          <p:cNvSpPr/>
          <p:nvPr/>
        </p:nvSpPr>
        <p:spPr>
          <a:xfrm>
            <a:off x="7679925" y="234805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LCD DISPLAY</a:t>
            </a:r>
          </a:p>
        </p:txBody>
      </p:sp>
      <p:sp>
        <p:nvSpPr>
          <p:cNvPr id="8" name="Down Arrow 27">
            <a:extLst>
              <a:ext uri="{FF2B5EF4-FFF2-40B4-BE49-F238E27FC236}">
                <a16:creationId xmlns:a16="http://schemas.microsoft.com/office/drawing/2014/main" id="{5C8AF724-CCB4-4A46-9072-DFB961E878E0}"/>
              </a:ext>
            </a:extLst>
          </p:cNvPr>
          <p:cNvSpPr/>
          <p:nvPr/>
        </p:nvSpPr>
        <p:spPr>
          <a:xfrm rot="16200000">
            <a:off x="7108425" y="2309950"/>
            <a:ext cx="457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
        <p:nvSpPr>
          <p:cNvPr id="9" name="Up Arrow 19">
            <a:extLst>
              <a:ext uri="{FF2B5EF4-FFF2-40B4-BE49-F238E27FC236}">
                <a16:creationId xmlns:a16="http://schemas.microsoft.com/office/drawing/2014/main" id="{FC0EDEB6-BF46-4526-8272-5A43320C08A6}"/>
              </a:ext>
            </a:extLst>
          </p:cNvPr>
          <p:cNvSpPr/>
          <p:nvPr/>
        </p:nvSpPr>
        <p:spPr>
          <a:xfrm rot="5400000">
            <a:off x="4608906" y="2752069"/>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304F998D-A083-4ED6-B977-2B965FC4523F}"/>
              </a:ext>
            </a:extLst>
          </p:cNvPr>
          <p:cNvSpPr/>
          <p:nvPr/>
        </p:nvSpPr>
        <p:spPr>
          <a:xfrm>
            <a:off x="2498325" y="3033850"/>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FINGER PRINT SENSOR</a:t>
            </a:r>
          </a:p>
        </p:txBody>
      </p:sp>
      <p:sp>
        <p:nvSpPr>
          <p:cNvPr id="11" name="Rectangle 10">
            <a:extLst>
              <a:ext uri="{FF2B5EF4-FFF2-40B4-BE49-F238E27FC236}">
                <a16:creationId xmlns:a16="http://schemas.microsoft.com/office/drawing/2014/main" id="{993DEE4A-22B8-43E6-9A86-87BB157404A6}"/>
              </a:ext>
            </a:extLst>
          </p:cNvPr>
          <p:cNvSpPr/>
          <p:nvPr/>
        </p:nvSpPr>
        <p:spPr>
          <a:xfrm>
            <a:off x="3581400" y="609991"/>
            <a:ext cx="4572000" cy="584775"/>
          </a:xfrm>
          <a:prstGeom prst="rect">
            <a:avLst/>
          </a:prstGeom>
        </p:spPr>
        <p:txBody>
          <a:bodyPr>
            <a:spAutoFit/>
          </a:bodyPr>
          <a:lstStyle/>
          <a:p>
            <a:r>
              <a:rPr lang="en-IN" sz="3200" b="1" dirty="0">
                <a:latin typeface="Times New Roman" panose="02020603050405020304" pitchFamily="18" charset="0"/>
                <a:cs typeface="Times New Roman" panose="02020603050405020304" pitchFamily="18" charset="0"/>
              </a:rPr>
              <a:t>BLOCK DIAGRAM</a:t>
            </a:r>
          </a:p>
        </p:txBody>
      </p:sp>
      <p:sp>
        <p:nvSpPr>
          <p:cNvPr id="12" name="Up Arrow 19">
            <a:extLst>
              <a:ext uri="{FF2B5EF4-FFF2-40B4-BE49-F238E27FC236}">
                <a16:creationId xmlns:a16="http://schemas.microsoft.com/office/drawing/2014/main" id="{6A9A7CCE-021B-48F4-A34B-8FAAA0FFF0F6}"/>
              </a:ext>
            </a:extLst>
          </p:cNvPr>
          <p:cNvSpPr/>
          <p:nvPr/>
        </p:nvSpPr>
        <p:spPr>
          <a:xfrm rot="5400000">
            <a:off x="4608906" y="3912986"/>
            <a:ext cx="350838" cy="13716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C2BE9D9C-CE47-4932-B471-6AEBBDA83004}"/>
              </a:ext>
            </a:extLst>
          </p:cNvPr>
          <p:cNvSpPr/>
          <p:nvPr/>
        </p:nvSpPr>
        <p:spPr>
          <a:xfrm>
            <a:off x="2498325" y="4253050"/>
            <a:ext cx="1600200" cy="75091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RS232</a:t>
            </a:r>
          </a:p>
        </p:txBody>
      </p:sp>
      <p:sp>
        <p:nvSpPr>
          <p:cNvPr id="14" name="Up Arrow 19">
            <a:extLst>
              <a:ext uri="{FF2B5EF4-FFF2-40B4-BE49-F238E27FC236}">
                <a16:creationId xmlns:a16="http://schemas.microsoft.com/office/drawing/2014/main" id="{FBE9C6C4-744B-4845-A3D8-5E8C5731F4B5}"/>
              </a:ext>
            </a:extLst>
          </p:cNvPr>
          <p:cNvSpPr/>
          <p:nvPr/>
        </p:nvSpPr>
        <p:spPr>
          <a:xfrm rot="16200000">
            <a:off x="4445603" y="5538638"/>
            <a:ext cx="350838" cy="109509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5" name="Rectangle 14">
            <a:extLst>
              <a:ext uri="{FF2B5EF4-FFF2-40B4-BE49-F238E27FC236}">
                <a16:creationId xmlns:a16="http://schemas.microsoft.com/office/drawing/2014/main" id="{349DCEB8-54A3-43E4-99EA-F42B72422187}"/>
              </a:ext>
            </a:extLst>
          </p:cNvPr>
          <p:cNvSpPr/>
          <p:nvPr/>
        </p:nvSpPr>
        <p:spPr>
          <a:xfrm>
            <a:off x="2473275" y="5555483"/>
            <a:ext cx="1600200" cy="990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CAMERA</a:t>
            </a:r>
          </a:p>
        </p:txBody>
      </p:sp>
      <p:sp>
        <p:nvSpPr>
          <p:cNvPr id="16" name="Up Arrow 19">
            <a:extLst>
              <a:ext uri="{FF2B5EF4-FFF2-40B4-BE49-F238E27FC236}">
                <a16:creationId xmlns:a16="http://schemas.microsoft.com/office/drawing/2014/main" id="{EEF139C1-5838-491A-A023-DBCC14E75463}"/>
              </a:ext>
            </a:extLst>
          </p:cNvPr>
          <p:cNvSpPr/>
          <p:nvPr/>
        </p:nvSpPr>
        <p:spPr>
          <a:xfrm>
            <a:off x="3097956" y="5081232"/>
            <a:ext cx="350838" cy="380873"/>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a:latin typeface="Times New Roman" panose="02020603050405020304" pitchFamily="18" charset="0"/>
              <a:cs typeface="Times New Roman" panose="02020603050405020304" pitchFamily="18" charset="0"/>
            </a:endParaRPr>
          </a:p>
        </p:txBody>
      </p:sp>
      <p:sp>
        <p:nvSpPr>
          <p:cNvPr id="17" name="Rectangle 16">
            <a:extLst>
              <a:ext uri="{FF2B5EF4-FFF2-40B4-BE49-F238E27FC236}">
                <a16:creationId xmlns:a16="http://schemas.microsoft.com/office/drawing/2014/main" id="{CF9D7F18-A472-44BA-B91E-1556F259FCCB}"/>
              </a:ext>
            </a:extLst>
          </p:cNvPr>
          <p:cNvSpPr/>
          <p:nvPr/>
        </p:nvSpPr>
        <p:spPr>
          <a:xfrm>
            <a:off x="5182217" y="5730902"/>
            <a:ext cx="1339051" cy="63976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dirty="0">
                <a:latin typeface="Times New Roman" panose="02020603050405020304" pitchFamily="18" charset="0"/>
                <a:cs typeface="Times New Roman" panose="02020603050405020304" pitchFamily="18" charset="0"/>
              </a:rPr>
              <a:t>PC</a:t>
            </a:r>
          </a:p>
        </p:txBody>
      </p:sp>
      <p:sp>
        <p:nvSpPr>
          <p:cNvPr id="18" name="Rectangle 17">
            <a:extLst>
              <a:ext uri="{FF2B5EF4-FFF2-40B4-BE49-F238E27FC236}">
                <a16:creationId xmlns:a16="http://schemas.microsoft.com/office/drawing/2014/main" id="{5D0A4979-910C-4571-B940-395F981C1C1A}"/>
              </a:ext>
            </a:extLst>
          </p:cNvPr>
          <p:cNvSpPr/>
          <p:nvPr/>
        </p:nvSpPr>
        <p:spPr>
          <a:xfrm>
            <a:off x="7679925" y="4024450"/>
            <a:ext cx="1828800"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CAPACITIVE TOUCH PAD</a:t>
            </a:r>
          </a:p>
        </p:txBody>
      </p:sp>
      <p:sp>
        <p:nvSpPr>
          <p:cNvPr id="19" name="Down Arrow 27">
            <a:extLst>
              <a:ext uri="{FF2B5EF4-FFF2-40B4-BE49-F238E27FC236}">
                <a16:creationId xmlns:a16="http://schemas.microsoft.com/office/drawing/2014/main" id="{2F725D99-7678-477B-95C4-B35F70B86D37}"/>
              </a:ext>
            </a:extLst>
          </p:cNvPr>
          <p:cNvSpPr/>
          <p:nvPr/>
        </p:nvSpPr>
        <p:spPr>
          <a:xfrm rot="5400000">
            <a:off x="7108425" y="3986350"/>
            <a:ext cx="457200" cy="6858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13484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E3AD7-0B54-4C26-9D41-9A601633D62B}"/>
              </a:ext>
            </a:extLst>
          </p:cNvPr>
          <p:cNvSpPr txBox="1">
            <a:spLocks/>
          </p:cNvSpPr>
          <p:nvPr/>
        </p:nvSpPr>
        <p:spPr>
          <a:xfrm>
            <a:off x="419100" y="665162"/>
            <a:ext cx="7620000" cy="114300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200" b="1" dirty="0">
                <a:latin typeface="Times New Roman" panose="02020603050405020304" pitchFamily="18" charset="0"/>
                <a:cs typeface="Times New Roman" panose="02020603050405020304" pitchFamily="18" charset="0"/>
              </a:rPr>
              <a:t>Hardware Requirements:</a:t>
            </a:r>
            <a:br>
              <a:rPr lang="en-IN" sz="3200" dirty="0">
                <a:latin typeface="Times New Roman" panose="02020603050405020304" pitchFamily="18"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18C2893-2A81-4E73-B78C-A3180A056193}"/>
              </a:ext>
            </a:extLst>
          </p:cNvPr>
          <p:cNvSpPr txBox="1">
            <a:spLocks/>
          </p:cNvSpPr>
          <p:nvPr/>
        </p:nvSpPr>
        <p:spPr>
          <a:xfrm>
            <a:off x="1905000" y="935038"/>
            <a:ext cx="7620000" cy="4800600"/>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114300" indent="0">
              <a:lnSpc>
                <a:spcPct val="150000"/>
              </a:lnSpc>
              <a:buFont typeface="Wingdings 3" charset="2"/>
              <a:buNone/>
            </a:pP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Power supply unit.</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Fingerprint sensor.</a:t>
            </a:r>
          </a:p>
          <a:p>
            <a:pPr>
              <a:lnSpc>
                <a:spcPct val="150000"/>
              </a:lnSpc>
            </a:pPr>
            <a:r>
              <a:rPr lang="en-US" dirty="0">
                <a:latin typeface="Times New Roman" panose="02020603050405020304" pitchFamily="18" charset="0"/>
                <a:cs typeface="Times New Roman" panose="02020603050405020304" pitchFamily="18" charset="0"/>
              </a:rPr>
              <a:t>Arduino Mega.</a:t>
            </a:r>
            <a:endParaRPr lang="en-IN"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RS 232.</a:t>
            </a:r>
          </a:p>
          <a:p>
            <a:pPr>
              <a:lnSpc>
                <a:spcPct val="150000"/>
              </a:lnSpc>
            </a:pPr>
            <a:r>
              <a:rPr lang="en-US" dirty="0">
                <a:latin typeface="Times New Roman" panose="02020603050405020304" pitchFamily="18" charset="0"/>
                <a:cs typeface="Times New Roman" panose="02020603050405020304" pitchFamily="18" charset="0"/>
              </a:rPr>
              <a:t>16</a:t>
            </a:r>
            <a:r>
              <a:rPr lang="en-IN" dirty="0">
                <a:latin typeface="Times New Roman" panose="02020603050405020304" pitchFamily="18" charset="0"/>
                <a:cs typeface="Times New Roman" panose="02020603050405020304" pitchFamily="18" charset="0"/>
              </a:rPr>
              <a:t>*2 LCD DISPLAY.</a:t>
            </a:r>
          </a:p>
          <a:p>
            <a:pPr>
              <a:lnSpc>
                <a:spcPct val="150000"/>
              </a:lnSpc>
            </a:pPr>
            <a:r>
              <a:rPr lang="en-IN" dirty="0">
                <a:latin typeface="Times New Roman" panose="02020603050405020304" pitchFamily="18" charset="0"/>
                <a:cs typeface="Times New Roman" panose="02020603050405020304" pitchFamily="18" charset="0"/>
              </a:rPr>
              <a:t>Capacitive touch pad.</a:t>
            </a:r>
          </a:p>
          <a:p>
            <a:pPr>
              <a:lnSpc>
                <a:spcPct val="150000"/>
              </a:lnSpc>
            </a:pPr>
            <a:r>
              <a:rPr lang="en-IN" dirty="0">
                <a:latin typeface="Times New Roman" panose="02020603050405020304" pitchFamily="18" charset="0"/>
                <a:cs typeface="Times New Roman" panose="02020603050405020304" pitchFamily="18" charset="0"/>
              </a:rPr>
              <a:t>Push buttons.</a:t>
            </a:r>
          </a:p>
          <a:p>
            <a:pPr>
              <a:lnSpc>
                <a:spcPct val="150000"/>
              </a:lnSpc>
            </a:pPr>
            <a:r>
              <a:rPr lang="en-IN" dirty="0">
                <a:latin typeface="Times New Roman" panose="02020603050405020304" pitchFamily="18" charset="0"/>
                <a:cs typeface="Times New Roman" panose="02020603050405020304" pitchFamily="18" charset="0"/>
              </a:rPr>
              <a:t>Led indication.</a:t>
            </a:r>
          </a:p>
          <a:p>
            <a:pPr>
              <a:lnSpc>
                <a:spcPct val="150000"/>
              </a:lnSpc>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88936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FA014-8482-4A9B-A20D-E493C6918861}"/>
              </a:ext>
            </a:extLst>
          </p:cNvPr>
          <p:cNvSpPr txBox="1">
            <a:spLocks/>
          </p:cNvSpPr>
          <p:nvPr/>
        </p:nvSpPr>
        <p:spPr>
          <a:xfrm>
            <a:off x="635000" y="490538"/>
            <a:ext cx="5829300" cy="855662"/>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nSpc>
                <a:spcPct val="150000"/>
              </a:lnSpc>
            </a:pPr>
            <a:r>
              <a:rPr lang="en-US" sz="3200" b="1" dirty="0">
                <a:latin typeface="Times New Roman" panose="02020603050405020304" pitchFamily="18" charset="0"/>
                <a:ea typeface="Calibri" panose="020F0502020204030204" pitchFamily="34" charset="0"/>
                <a:cs typeface="Times New Roman" panose="02020603050405020304" pitchFamily="18" charset="0"/>
              </a:rPr>
              <a:t>Software Requirements:</a:t>
            </a:r>
            <a:br>
              <a:rPr lang="en-IN" sz="3200" dirty="0">
                <a:latin typeface="Times New Roman" panose="02020603050405020304" pitchFamily="18" charset="0"/>
                <a:ea typeface="Calibri" panose="020F0502020204030204" pitchFamily="34" charset="0"/>
                <a:cs typeface="Times New Roman" panose="02020603050405020304" pitchFamily="18" charset="0"/>
              </a:rPr>
            </a:b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369B8E-5733-4BD4-9FF2-6F6CE762BC0A}"/>
              </a:ext>
            </a:extLst>
          </p:cNvPr>
          <p:cNvSpPr txBox="1">
            <a:spLocks/>
          </p:cNvSpPr>
          <p:nvPr/>
        </p:nvSpPr>
        <p:spPr>
          <a:xfrm>
            <a:off x="1574800" y="1625600"/>
            <a:ext cx="7620000" cy="3898900"/>
          </a:xfrm>
          <a:prstGeom prst="rect">
            <a:avLst/>
          </a:prstGeom>
        </p:spPr>
        <p:txBody>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Mat lab 8.1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Platform - AVR STUDIO </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In System Programmer - ProgISP 172</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spcAft>
                <a:spcPts val="1000"/>
              </a:spcAft>
              <a:buFont typeface="Wingdings" panose="05000000000000000000" pitchFamily="2" charset="2"/>
              <a:buChar char=""/>
              <a:tabLst>
                <a:tab pos="457200" algn="l"/>
              </a:tabLst>
            </a:pPr>
            <a:r>
              <a:rPr lang="en-US" sz="2400" dirty="0">
                <a:latin typeface="Times New Roman" panose="02020603050405020304" pitchFamily="18" charset="0"/>
                <a:ea typeface="Calibri" panose="020F0502020204030204" pitchFamily="34" charset="0"/>
                <a:cs typeface="Times New Roman" panose="02020603050405020304" pitchFamily="18" charset="0"/>
              </a:rPr>
              <a:t>Compiler – Win AVR</a:t>
            </a:r>
            <a:endParaRPr lang="en-IN" sz="2400" dirty="0">
              <a:latin typeface="Times New Roman" panose="02020603050405020304" pitchFamily="18" charset="0"/>
              <a:ea typeface="Calibri" panose="020F0502020204030204" pitchFamily="34" charset="0"/>
              <a:cs typeface="Times New Roman" panose="02020603050405020304" pitchFamily="18" charset="0"/>
            </a:endParaRPr>
          </a:p>
          <a:p>
            <a:pPr>
              <a:lnSpc>
                <a:spcPct val="150000"/>
              </a:lnSpc>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71652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B8C32E-6D42-4D83-8136-87B385AB4A1C}"/>
              </a:ext>
            </a:extLst>
          </p:cNvPr>
          <p:cNvSpPr txBox="1"/>
          <p:nvPr/>
        </p:nvSpPr>
        <p:spPr>
          <a:xfrm>
            <a:off x="368300" y="622300"/>
            <a:ext cx="58547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Drawbacks:</a:t>
            </a:r>
          </a:p>
        </p:txBody>
      </p:sp>
      <p:sp>
        <p:nvSpPr>
          <p:cNvPr id="3" name="TextBox 2">
            <a:extLst>
              <a:ext uri="{FF2B5EF4-FFF2-40B4-BE49-F238E27FC236}">
                <a16:creationId xmlns:a16="http://schemas.microsoft.com/office/drawing/2014/main" id="{22D189A5-0FBF-4631-8D75-604CC769C58E}"/>
              </a:ext>
            </a:extLst>
          </p:cNvPr>
          <p:cNvSpPr txBox="1"/>
          <p:nvPr/>
        </p:nvSpPr>
        <p:spPr>
          <a:xfrm>
            <a:off x="850900" y="1663700"/>
            <a:ext cx="11010900" cy="2795958"/>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Before voting the user has to enroll first.</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Sensitivity of finger print module causes sometimes Combine character error.</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Finger print </a:t>
            </a:r>
            <a:r>
              <a:rPr lang="en-US" altLang="en-US" sz="2400" dirty="0">
                <a:latin typeface="Times New Roman" panose="02020603050405020304" pitchFamily="18" charset="0"/>
                <a:cs typeface="Times New Roman" panose="02020603050405020304" pitchFamily="18" charset="0"/>
              </a:rPr>
              <a:t>recognition is that it is not affected by dryness or roughness of skin or by physical injury on surface of the hand but sometimes the temperature and humidity can affect the quality of the captured image</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68299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8EE2FE-31B3-46B7-9F04-E3F4C10AFE69}"/>
              </a:ext>
            </a:extLst>
          </p:cNvPr>
          <p:cNvSpPr txBox="1"/>
          <p:nvPr/>
        </p:nvSpPr>
        <p:spPr>
          <a:xfrm>
            <a:off x="876300" y="1663700"/>
            <a:ext cx="11315700" cy="3903954"/>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working of this model is very straightforward and very easy to understand.</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First, the fingerprint reader scans the fingerprint of the voter and sends the output to the microcontroller.</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microcontroller then pairs the scanned data with the data in the database and retrieves the information about the voter.</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 camera scans the face of the voter and checks whether it is similar to the face of the voter’s face data that is paired with the fingerprint.</a:t>
            </a:r>
          </a:p>
        </p:txBody>
      </p:sp>
      <p:sp>
        <p:nvSpPr>
          <p:cNvPr id="3" name="TextBox 2">
            <a:extLst>
              <a:ext uri="{FF2B5EF4-FFF2-40B4-BE49-F238E27FC236}">
                <a16:creationId xmlns:a16="http://schemas.microsoft.com/office/drawing/2014/main" id="{D792E939-E763-4E2B-9110-CD946FD12FCA}"/>
              </a:ext>
            </a:extLst>
          </p:cNvPr>
          <p:cNvSpPr txBox="1"/>
          <p:nvPr/>
        </p:nvSpPr>
        <p:spPr>
          <a:xfrm>
            <a:off x="508000" y="685800"/>
            <a:ext cx="73914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Result and Discussion:</a:t>
            </a:r>
          </a:p>
        </p:txBody>
      </p:sp>
    </p:spTree>
    <p:extLst>
      <p:ext uri="{BB962C8B-B14F-4D97-AF65-F5344CB8AC3E}">
        <p14:creationId xmlns:p14="http://schemas.microsoft.com/office/powerpoint/2010/main" val="5587781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473E354-4908-477F-A2A8-19AF6D1771F9}"/>
              </a:ext>
            </a:extLst>
          </p:cNvPr>
          <p:cNvSpPr txBox="1"/>
          <p:nvPr/>
        </p:nvSpPr>
        <p:spPr>
          <a:xfrm>
            <a:off x="368300" y="584200"/>
            <a:ext cx="7912100" cy="584775"/>
          </a:xfrm>
          <a:prstGeom prst="rect">
            <a:avLst/>
          </a:prstGeom>
          <a:noFill/>
        </p:spPr>
        <p:txBody>
          <a:bodyPr wrap="square" rtlCol="0">
            <a:spAutoFit/>
          </a:bodyPr>
          <a:lstStyle/>
          <a:p>
            <a:r>
              <a:rPr lang="en-US" sz="3200" dirty="0">
                <a:latin typeface="Times New Roman" panose="02020603050405020304" pitchFamily="18" charset="0"/>
                <a:cs typeface="Times New Roman" panose="02020603050405020304" pitchFamily="18" charset="0"/>
              </a:rPr>
              <a:t>Conclusion:</a:t>
            </a:r>
          </a:p>
        </p:txBody>
      </p:sp>
      <p:sp>
        <p:nvSpPr>
          <p:cNvPr id="3" name="TextBox 2">
            <a:extLst>
              <a:ext uri="{FF2B5EF4-FFF2-40B4-BE49-F238E27FC236}">
                <a16:creationId xmlns:a16="http://schemas.microsoft.com/office/drawing/2014/main" id="{6C934FD1-8549-499E-B863-A65D428E4259}"/>
              </a:ext>
            </a:extLst>
          </p:cNvPr>
          <p:cNvSpPr txBox="1"/>
          <p:nvPr/>
        </p:nvSpPr>
        <p:spPr>
          <a:xfrm>
            <a:off x="571500" y="1587500"/>
            <a:ext cx="11049000" cy="3349956"/>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many fraudulent and illegal activities that are happening in regards to the current voting process.</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With these problems in mind, the electronic voting machine is developed with fingerprint and facial recognition.</a:t>
            </a:r>
          </a:p>
          <a:p>
            <a:pPr marL="342900" indent="-34290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dual authentication system reduces the chances of the above mentioned problems and so it has improves the security and efficiency of the voting process.</a:t>
            </a:r>
          </a:p>
        </p:txBody>
      </p:sp>
    </p:spTree>
    <p:extLst>
      <p:ext uri="{BB962C8B-B14F-4D97-AF65-F5344CB8AC3E}">
        <p14:creationId xmlns:p14="http://schemas.microsoft.com/office/powerpoint/2010/main" val="3380275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373E6A-AE5B-4FA8-87F3-F4A929386F43}"/>
              </a:ext>
            </a:extLst>
          </p:cNvPr>
          <p:cNvSpPr txBox="1">
            <a:spLocks/>
          </p:cNvSpPr>
          <p:nvPr/>
        </p:nvSpPr>
        <p:spPr>
          <a:xfrm>
            <a:off x="457200" y="274638"/>
            <a:ext cx="7620000" cy="114300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b="1" dirty="0">
                <a:latin typeface="Times New Roman" panose="02020603050405020304" pitchFamily="18" charset="0"/>
                <a:cs typeface="Times New Roman" panose="02020603050405020304" pitchFamily="18" charset="0"/>
              </a:rPr>
              <a:t>REFERENCES:</a:t>
            </a:r>
          </a:p>
        </p:txBody>
      </p:sp>
      <p:sp>
        <p:nvSpPr>
          <p:cNvPr id="3" name="Content Placeholder 2">
            <a:extLst>
              <a:ext uri="{FF2B5EF4-FFF2-40B4-BE49-F238E27FC236}">
                <a16:creationId xmlns:a16="http://schemas.microsoft.com/office/drawing/2014/main" id="{6FFF957F-B3BA-4597-8A8F-9BE258E95DDE}"/>
              </a:ext>
            </a:extLst>
          </p:cNvPr>
          <p:cNvSpPr txBox="1">
            <a:spLocks/>
          </p:cNvSpPr>
          <p:nvPr/>
        </p:nvSpPr>
        <p:spPr>
          <a:xfrm>
            <a:off x="977900" y="977900"/>
            <a:ext cx="10845800" cy="5427662"/>
          </a:xfrm>
          <a:prstGeom prst="rect">
            <a:avLst/>
          </a:prstGeom>
        </p:spPr>
        <p:txBody>
          <a:bodyPr>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r>
              <a:rPr lang="en-US" sz="2400" dirty="0">
                <a:latin typeface="Times New Roman" panose="02020603050405020304" pitchFamily="18" charset="0"/>
                <a:cs typeface="Times New Roman" panose="02020603050405020304" pitchFamily="18" charset="0"/>
              </a:rPr>
              <a:t>[1] Phillips, P., </a:t>
            </a:r>
            <a:r>
              <a:rPr lang="en-US" sz="2400" dirty="0" err="1">
                <a:latin typeface="Times New Roman" panose="02020603050405020304" pitchFamily="18" charset="0"/>
                <a:cs typeface="Times New Roman" panose="02020603050405020304" pitchFamily="18" charset="0"/>
              </a:rPr>
              <a:t>Grother</a:t>
            </a:r>
            <a:r>
              <a:rPr lang="en-US" sz="2400" dirty="0">
                <a:latin typeface="Times New Roman" panose="02020603050405020304" pitchFamily="18" charset="0"/>
                <a:cs typeface="Times New Roman" panose="02020603050405020304" pitchFamily="18" charset="0"/>
              </a:rPr>
              <a:t>, P., </a:t>
            </a:r>
            <a:r>
              <a:rPr lang="en-US" sz="2400" dirty="0" err="1">
                <a:latin typeface="Times New Roman" panose="02020603050405020304" pitchFamily="18" charset="0"/>
                <a:cs typeface="Times New Roman" panose="02020603050405020304" pitchFamily="18" charset="0"/>
              </a:rPr>
              <a:t>Micheals</a:t>
            </a:r>
            <a:r>
              <a:rPr lang="en-US" sz="2400" dirty="0">
                <a:latin typeface="Times New Roman" panose="02020603050405020304" pitchFamily="18" charset="0"/>
                <a:cs typeface="Times New Roman" panose="02020603050405020304" pitchFamily="18" charset="0"/>
              </a:rPr>
              <a:t>, R.J., Blackburn, D.M., </a:t>
            </a:r>
            <a:r>
              <a:rPr lang="en-US" sz="2400" dirty="0" err="1">
                <a:latin typeface="Times New Roman" panose="02020603050405020304" pitchFamily="18" charset="0"/>
                <a:cs typeface="Times New Roman" panose="02020603050405020304" pitchFamily="18" charset="0"/>
              </a:rPr>
              <a:t>Tabassi</a:t>
            </a:r>
            <a:r>
              <a:rPr lang="en-US" sz="2400" dirty="0">
                <a:latin typeface="Times New Roman" panose="02020603050405020304" pitchFamily="18" charset="0"/>
                <a:cs typeface="Times New Roman" panose="02020603050405020304" pitchFamily="18" charset="0"/>
              </a:rPr>
              <a:t>, E., Bone, J.M.: Face recognition vendor test 2002 results. Technical report (2003).</a:t>
            </a:r>
          </a:p>
          <a:p>
            <a:r>
              <a:rPr lang="en-US" sz="2400" dirty="0">
                <a:latin typeface="Times New Roman" panose="02020603050405020304" pitchFamily="18" charset="0"/>
                <a:cs typeface="Times New Roman" panose="02020603050405020304" pitchFamily="18" charset="0"/>
              </a:rPr>
              <a:t>[2] Zhao, W., </a:t>
            </a:r>
            <a:r>
              <a:rPr lang="en-US" sz="2400" dirty="0" err="1">
                <a:latin typeface="Times New Roman" panose="02020603050405020304" pitchFamily="18" charset="0"/>
                <a:cs typeface="Times New Roman" panose="02020603050405020304" pitchFamily="18" charset="0"/>
              </a:rPr>
              <a:t>Chellappa</a:t>
            </a:r>
            <a:r>
              <a:rPr lang="en-US" sz="2400" dirty="0">
                <a:latin typeface="Times New Roman" panose="02020603050405020304" pitchFamily="18" charset="0"/>
                <a:cs typeface="Times New Roman" panose="02020603050405020304" pitchFamily="18" charset="0"/>
              </a:rPr>
              <a:t>, R., Rosenfeld, A., Phillips, P.J.: Face recognition: a literature survey. Technical Report CAR-TR-948, Center for Automation Research, University of Maryland (2002) Phillips, P.J., Wechsler, H., Huang, J., </a:t>
            </a:r>
            <a:r>
              <a:rPr lang="en-US" sz="2400" dirty="0" err="1">
                <a:latin typeface="Times New Roman" panose="02020603050405020304" pitchFamily="18" charset="0"/>
                <a:cs typeface="Times New Roman" panose="02020603050405020304" pitchFamily="18" charset="0"/>
              </a:rPr>
              <a:t>Rauss</a:t>
            </a:r>
            <a:r>
              <a:rPr lang="en-US" sz="2400" dirty="0">
                <a:latin typeface="Times New Roman" panose="02020603050405020304" pitchFamily="18" charset="0"/>
                <a:cs typeface="Times New Roman" panose="02020603050405020304" pitchFamily="18" charset="0"/>
              </a:rPr>
              <a:t>, P.: The FERET database and evaluation procedure for face recognition algorithms. Image and Vision Computing 16, 295–306 (1998).</a:t>
            </a:r>
          </a:p>
          <a:p>
            <a:r>
              <a:rPr lang="en-US" sz="2400" dirty="0">
                <a:latin typeface="Times New Roman" panose="02020603050405020304" pitchFamily="18" charset="0"/>
                <a:cs typeface="Times New Roman" panose="02020603050405020304" pitchFamily="18" charset="0"/>
              </a:rPr>
              <a:t>[3] Turk, M., Pentland, A.: Eigenfaces for recognition. Journal of Cognitive Neuroscience 3, 71–86 (1991).</a:t>
            </a:r>
          </a:p>
          <a:p>
            <a:r>
              <a:rPr lang="en-US" sz="2400" dirty="0">
                <a:latin typeface="Times New Roman" panose="02020603050405020304" pitchFamily="18" charset="0"/>
                <a:cs typeface="Times New Roman" panose="02020603050405020304" pitchFamily="18" charset="0"/>
              </a:rPr>
              <a:t>[4] </a:t>
            </a:r>
            <a:r>
              <a:rPr lang="en-US" sz="2400" dirty="0" err="1">
                <a:latin typeface="Times New Roman" panose="02020603050405020304" pitchFamily="18" charset="0"/>
                <a:cs typeface="Times New Roman" panose="02020603050405020304" pitchFamily="18" charset="0"/>
              </a:rPr>
              <a:t>Etemad</a:t>
            </a:r>
            <a:r>
              <a:rPr lang="en-US" sz="2400" dirty="0">
                <a:latin typeface="Times New Roman" panose="02020603050405020304" pitchFamily="18" charset="0"/>
                <a:cs typeface="Times New Roman" panose="02020603050405020304" pitchFamily="18" charset="0"/>
              </a:rPr>
              <a:t>, K., </a:t>
            </a:r>
            <a:r>
              <a:rPr lang="en-US" sz="2400" dirty="0" err="1">
                <a:latin typeface="Times New Roman" panose="02020603050405020304" pitchFamily="18" charset="0"/>
                <a:cs typeface="Times New Roman" panose="02020603050405020304" pitchFamily="18" charset="0"/>
              </a:rPr>
              <a:t>Chellappa</a:t>
            </a:r>
            <a:r>
              <a:rPr lang="en-US" sz="2400" dirty="0">
                <a:latin typeface="Times New Roman" panose="02020603050405020304" pitchFamily="18" charset="0"/>
                <a:cs typeface="Times New Roman" panose="02020603050405020304" pitchFamily="18" charset="0"/>
              </a:rPr>
              <a:t>, R.: Discriminant analysis for recognition of human face images. Journal of the Optical Society of America 14, 1724–1733 (1997).</a:t>
            </a:r>
          </a:p>
          <a:p>
            <a:r>
              <a:rPr lang="en-US" sz="2400" dirty="0">
                <a:latin typeface="Times New Roman" panose="02020603050405020304" pitchFamily="18" charset="0"/>
                <a:cs typeface="Times New Roman" panose="02020603050405020304" pitchFamily="18" charset="0"/>
              </a:rPr>
              <a:t>[5] Moghaddam, B., </a:t>
            </a:r>
            <a:r>
              <a:rPr lang="en-US" sz="2400" dirty="0" err="1">
                <a:latin typeface="Times New Roman" panose="02020603050405020304" pitchFamily="18" charset="0"/>
                <a:cs typeface="Times New Roman" panose="02020603050405020304" pitchFamily="18" charset="0"/>
              </a:rPr>
              <a:t>Nastar</a:t>
            </a:r>
            <a:r>
              <a:rPr lang="en-US" sz="2400" dirty="0">
                <a:latin typeface="Times New Roman" panose="02020603050405020304" pitchFamily="18" charset="0"/>
                <a:cs typeface="Times New Roman" panose="02020603050405020304" pitchFamily="18" charset="0"/>
              </a:rPr>
              <a:t>, C., Pentland, A.: A </a:t>
            </a:r>
            <a:r>
              <a:rPr lang="en-US" sz="2400" dirty="0" err="1">
                <a:latin typeface="Times New Roman" panose="02020603050405020304" pitchFamily="18" charset="0"/>
                <a:cs typeface="Times New Roman" panose="02020603050405020304" pitchFamily="18" charset="0"/>
              </a:rPr>
              <a:t>bayesian</a:t>
            </a:r>
            <a:r>
              <a:rPr lang="en-US" sz="2400" dirty="0">
                <a:latin typeface="Times New Roman" panose="02020603050405020304" pitchFamily="18" charset="0"/>
                <a:cs typeface="Times New Roman" panose="02020603050405020304" pitchFamily="18" charset="0"/>
              </a:rPr>
              <a:t> similarity measure for direct image matching. In: 13th International Conference on Pattern Recognition, pp. II: 350–358 (1996).</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60796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9FA53AC-3FD8-41A0-89CD-9DCBE118D29B}"/>
              </a:ext>
            </a:extLst>
          </p:cNvPr>
          <p:cNvSpPr txBox="1"/>
          <p:nvPr/>
        </p:nvSpPr>
        <p:spPr>
          <a:xfrm>
            <a:off x="533400" y="1181100"/>
            <a:ext cx="11658600" cy="5565947"/>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[6] </a:t>
            </a:r>
            <a:r>
              <a:rPr lang="en-US" sz="2400" dirty="0" err="1">
                <a:latin typeface="Times New Roman" panose="02020603050405020304" pitchFamily="18" charset="0"/>
                <a:cs typeface="Times New Roman" panose="02020603050405020304" pitchFamily="18" charset="0"/>
              </a:rPr>
              <a:t>Ojala</a:t>
            </a:r>
            <a:r>
              <a:rPr lang="en-US" sz="2400" dirty="0">
                <a:latin typeface="Times New Roman" panose="02020603050405020304" pitchFamily="18" charset="0"/>
                <a:cs typeface="Times New Roman" panose="02020603050405020304" pitchFamily="18" charset="0"/>
              </a:rPr>
              <a:t>, T., </a:t>
            </a:r>
            <a:r>
              <a:rPr lang="en-US" sz="2400" dirty="0" err="1">
                <a:latin typeface="Times New Roman" panose="02020603050405020304" pitchFamily="18" charset="0"/>
                <a:cs typeface="Times New Roman" panose="02020603050405020304" pitchFamily="18" charset="0"/>
              </a:rPr>
              <a:t>Pietikäinen</a:t>
            </a:r>
            <a:r>
              <a:rPr lang="en-US" sz="2400" dirty="0">
                <a:latin typeface="Times New Roman" panose="02020603050405020304" pitchFamily="18" charset="0"/>
                <a:cs typeface="Times New Roman" panose="02020603050405020304" pitchFamily="18" charset="0"/>
              </a:rPr>
              <a:t>, M., </a:t>
            </a:r>
            <a:r>
              <a:rPr lang="en-US" sz="2400" dirty="0" err="1">
                <a:latin typeface="Times New Roman" panose="02020603050405020304" pitchFamily="18" charset="0"/>
                <a:cs typeface="Times New Roman" panose="02020603050405020304" pitchFamily="18" charset="0"/>
              </a:rPr>
              <a:t>Mäenpää</a:t>
            </a:r>
            <a:r>
              <a:rPr lang="en-US" sz="2400" dirty="0">
                <a:latin typeface="Times New Roman" panose="02020603050405020304" pitchFamily="18" charset="0"/>
                <a:cs typeface="Times New Roman" panose="02020603050405020304" pitchFamily="18" charset="0"/>
              </a:rPr>
              <a:t>, T.: Multiresolution gray-scale and rotation invariant texture classification with local binary patterns. IEEE Transactions on Pattern Analysis and Machine Intelligence 24, 971–987 (2002).</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[7] </a:t>
            </a:r>
            <a:r>
              <a:rPr lang="en-US" sz="2400" dirty="0" err="1">
                <a:latin typeface="Times New Roman" panose="02020603050405020304" pitchFamily="18" charset="0"/>
                <a:cs typeface="Times New Roman" panose="02020603050405020304" pitchFamily="18" charset="0"/>
              </a:rPr>
              <a:t>Pantech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Pantech</a:t>
            </a:r>
            <a:r>
              <a:rPr lang="en-US" sz="2400" dirty="0">
                <a:latin typeface="Times New Roman" panose="02020603050405020304" pitchFamily="18" charset="0"/>
                <a:cs typeface="Times New Roman" panose="02020603050405020304" pitchFamily="18" charset="0"/>
              </a:rPr>
              <a:t> unveils VEGA LTE-A, world's first LTE-A with fingerprint recognition and rear touch,” 2013.</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[8] M. Bishop, Computer Security: Art and Science, Addison-Wesley, Boston, Mass, USA, 2003.</a:t>
            </a:r>
          </a:p>
          <a:p>
            <a:pPr marL="285750" indent="-285750">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[9] N. K. </a:t>
            </a:r>
            <a:r>
              <a:rPr lang="en-US" sz="2400" dirty="0" err="1">
                <a:latin typeface="Times New Roman" panose="02020603050405020304" pitchFamily="18" charset="0"/>
                <a:cs typeface="Times New Roman" panose="02020603050405020304" pitchFamily="18" charset="0"/>
              </a:rPr>
              <a:t>Ratha</a:t>
            </a:r>
            <a:r>
              <a:rPr lang="en-US" sz="2400" dirty="0">
                <a:latin typeface="Times New Roman" panose="02020603050405020304" pitchFamily="18" charset="0"/>
                <a:cs typeface="Times New Roman" panose="02020603050405020304" pitchFamily="18" charset="0"/>
              </a:rPr>
              <a:t>, J. H. Connell, and R. M. </a:t>
            </a:r>
            <a:r>
              <a:rPr lang="en-US" sz="2400" dirty="0" err="1">
                <a:latin typeface="Times New Roman" panose="02020603050405020304" pitchFamily="18" charset="0"/>
                <a:cs typeface="Times New Roman" panose="02020603050405020304" pitchFamily="18" charset="0"/>
              </a:rPr>
              <a:t>Bolle</a:t>
            </a:r>
            <a:r>
              <a:rPr lang="en-US" sz="2400" dirty="0">
                <a:latin typeface="Times New Roman" panose="02020603050405020304" pitchFamily="18" charset="0"/>
                <a:cs typeface="Times New Roman" panose="02020603050405020304" pitchFamily="18" charset="0"/>
              </a:rPr>
              <a:t>, “Enhancing security and privacy in biometrics-based authentication systems,” IBM Systems Journal, vol. 40, no. 3, pp. 614–634, 2001.</a:t>
            </a:r>
          </a:p>
        </p:txBody>
      </p:sp>
      <p:sp>
        <p:nvSpPr>
          <p:cNvPr id="3" name="TextBox 2">
            <a:extLst>
              <a:ext uri="{FF2B5EF4-FFF2-40B4-BE49-F238E27FC236}">
                <a16:creationId xmlns:a16="http://schemas.microsoft.com/office/drawing/2014/main" id="{0BE38CE1-23E4-41A3-B59B-3C3BCA8359F4}"/>
              </a:ext>
            </a:extLst>
          </p:cNvPr>
          <p:cNvSpPr txBox="1"/>
          <p:nvPr/>
        </p:nvSpPr>
        <p:spPr>
          <a:xfrm>
            <a:off x="355600" y="393700"/>
            <a:ext cx="5892800" cy="584775"/>
          </a:xfrm>
          <a:prstGeom prst="rect">
            <a:avLst/>
          </a:prstGeom>
          <a:noFill/>
        </p:spPr>
        <p:txBody>
          <a:bodyPr wrap="square" rtlCol="0">
            <a:spAutoFit/>
          </a:bodyPr>
          <a:lstStyle/>
          <a:p>
            <a:r>
              <a:rPr lang="en-IN" sz="3200" b="1"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10098100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3E6B2A-080F-4143-BC92-2C58724B8753}"/>
              </a:ext>
            </a:extLst>
          </p:cNvPr>
          <p:cNvSpPr txBox="1"/>
          <p:nvPr/>
        </p:nvSpPr>
        <p:spPr>
          <a:xfrm>
            <a:off x="1161535" y="2832325"/>
            <a:ext cx="9687698" cy="769441"/>
          </a:xfrm>
          <a:prstGeom prst="rect">
            <a:avLst/>
          </a:prstGeom>
          <a:noFill/>
        </p:spPr>
        <p:txBody>
          <a:bodyPr wrap="square" rtlCol="0">
            <a:spAutoFit/>
          </a:bodyPr>
          <a:lstStyle/>
          <a:p>
            <a:pPr algn="ctr"/>
            <a:r>
              <a:rPr lang="en-US" sz="4400" b="1" dirty="0">
                <a:latin typeface="Times New Roman" panose="02020603050405020304" pitchFamily="18" charset="0"/>
                <a:cs typeface="Times New Roman" panose="02020603050405020304" pitchFamily="18" charset="0"/>
              </a:rPr>
              <a:t>Thank You</a:t>
            </a:r>
            <a:endParaRPr lang="en-IN" sz="4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133178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646</TotalTime>
  <Words>1280</Words>
  <Application>Microsoft Office PowerPoint</Application>
  <PresentationFormat>Widescreen</PresentationFormat>
  <Paragraphs>126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Century Gothic</vt:lpstr>
      <vt:lpstr>Times New Roman</vt:lpstr>
      <vt:lpstr>Wingdings</vt:lpstr>
      <vt:lpstr>Wingdings 3</vt:lpstr>
      <vt:lpstr>Ion</vt:lpstr>
      <vt:lpstr>Electronic Voting Machine with fingerprint and facial recognition</vt:lpstr>
      <vt:lpstr>Objective: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Electronic Voting Machine</dc:title>
  <dc:creator>ShaDow MoNaRcH</dc:creator>
  <cp:lastModifiedBy>KALAIARASAN</cp:lastModifiedBy>
  <cp:revision>58</cp:revision>
  <dcterms:created xsi:type="dcterms:W3CDTF">2022-03-17T09:06:25Z</dcterms:created>
  <dcterms:modified xsi:type="dcterms:W3CDTF">2022-06-05T13:52:59Z</dcterms:modified>
</cp:coreProperties>
</file>