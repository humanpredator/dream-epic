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6" r:id="rId1"/>
  </p:sldMasterIdLst>
  <p:notesMasterIdLst>
    <p:notesMasterId r:id="rId15"/>
  </p:notesMasterIdLst>
  <p:sldIdLst>
    <p:sldId id="256" r:id="rId2"/>
    <p:sldId id="269" r:id="rId3"/>
    <p:sldId id="267" r:id="rId4"/>
    <p:sldId id="262" r:id="rId5"/>
    <p:sldId id="264" r:id="rId6"/>
    <p:sldId id="265" r:id="rId7"/>
    <p:sldId id="260" r:id="rId8"/>
    <p:sldId id="268" r:id="rId9"/>
    <p:sldId id="266" r:id="rId10"/>
    <p:sldId id="270" r:id="rId11"/>
    <p:sldId id="271" r:id="rId12"/>
    <p:sldId id="272" r:id="rId13"/>
    <p:sldId id="26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87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8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01325D-BC9B-40CA-A232-812DD10CD9D7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108411-82E5-48F5-A95A-D6382729B8D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379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5498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5716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4861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6545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4077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0470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0115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3286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32927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2691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7949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076399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489474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2213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34982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51542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8328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FFD472B-3F04-4140-8EB9-D00A0FF39B7A}" type="datetimeFigureOut">
              <a:rPr lang="en-IN" smtClean="0"/>
              <a:t>13-05-2022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44B540-F12B-4CFB-82DE-9978E36B7A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71145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  <p:sldLayoutId id="2147483778" r:id="rId12"/>
    <p:sldLayoutId id="2147483779" r:id="rId13"/>
    <p:sldLayoutId id="2147483780" r:id="rId14"/>
    <p:sldLayoutId id="2147483781" r:id="rId15"/>
    <p:sldLayoutId id="2147483782" r:id="rId16"/>
    <p:sldLayoutId id="2147483783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D655F-E6EE-438E-9494-470CD0167D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34429" y="1106387"/>
            <a:ext cx="8723141" cy="2322613"/>
          </a:xfrm>
        </p:spPr>
        <p:txBody>
          <a:bodyPr>
            <a:normAutofit/>
          </a:bodyPr>
          <a:lstStyle/>
          <a:p>
            <a:pPr algn="ctr"/>
            <a:r>
              <a:rPr lang="en-US" sz="4800" b="1" dirty="0"/>
              <a:t>Electronic Voting Machine with fingerprint and facial recognition</a:t>
            </a:r>
            <a:endParaRPr lang="en-IN" sz="48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C9961E-8CD6-4F05-8B38-E802CE0C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4581" y="4388360"/>
            <a:ext cx="4057136" cy="1414805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Guided By;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Kanagaraj G</a:t>
            </a:r>
          </a:p>
          <a:p>
            <a:r>
              <a:rPr lang="en-US" sz="1800" b="1" dirty="0"/>
              <a:t>(AP/ECE)</a:t>
            </a:r>
            <a:endParaRPr lang="en-US" sz="1800" b="1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F5040-E8AA-4B74-BA23-133F88918A92}"/>
              </a:ext>
            </a:extLst>
          </p:cNvPr>
          <p:cNvSpPr txBox="1"/>
          <p:nvPr/>
        </p:nvSpPr>
        <p:spPr>
          <a:xfrm>
            <a:off x="7650285" y="4388360"/>
            <a:ext cx="5029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Presented by;</a:t>
            </a:r>
          </a:p>
          <a:p>
            <a:pPr marL="447675"/>
            <a:r>
              <a:rPr lang="en-IN" dirty="0"/>
              <a:t>	Bharath G             [620118106015]</a:t>
            </a:r>
          </a:p>
          <a:p>
            <a:r>
              <a:rPr lang="en-IN" dirty="0"/>
              <a:t>	Kalaiarasan M.K   [620118106034]</a:t>
            </a:r>
          </a:p>
          <a:p>
            <a:r>
              <a:rPr lang="en-IN" dirty="0"/>
              <a:t>	Mubarak Ali S.Y    [620118106056]</a:t>
            </a:r>
          </a:p>
          <a:p>
            <a:r>
              <a:rPr lang="en-IN" dirty="0"/>
              <a:t>	Ajay R 	                [620118106003]</a:t>
            </a:r>
          </a:p>
        </p:txBody>
      </p:sp>
    </p:spTree>
    <p:extLst>
      <p:ext uri="{BB962C8B-B14F-4D97-AF65-F5344CB8AC3E}">
        <p14:creationId xmlns:p14="http://schemas.microsoft.com/office/powerpoint/2010/main" val="2406087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0AEC5-F28F-424B-B93F-6FDA467A1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AC076-25ED-4197-9332-9A52873B85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7012" y="1738948"/>
            <a:ext cx="8946541" cy="4195481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improve the Security of the election process.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project verify the voters identify by using fingerprint sensor and facial recognition.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objective is to avoid the corruption process in the election like manipulation of votes.</a:t>
            </a:r>
          </a:p>
        </p:txBody>
      </p:sp>
    </p:spTree>
    <p:extLst>
      <p:ext uri="{BB962C8B-B14F-4D97-AF65-F5344CB8AC3E}">
        <p14:creationId xmlns:p14="http://schemas.microsoft.com/office/powerpoint/2010/main" val="3806757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9C56DC-C915-4C45-B44E-4FCD7B4525BB}"/>
              </a:ext>
            </a:extLst>
          </p:cNvPr>
          <p:cNvSpPr txBox="1"/>
          <p:nvPr/>
        </p:nvSpPr>
        <p:spPr>
          <a:xfrm>
            <a:off x="482600" y="850900"/>
            <a:ext cx="72009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Abstract: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32B7DF-3D38-4760-AF14-5604FB926DE9}"/>
              </a:ext>
            </a:extLst>
          </p:cNvPr>
          <p:cNvSpPr txBox="1"/>
          <p:nvPr/>
        </p:nvSpPr>
        <p:spPr>
          <a:xfrm>
            <a:off x="1085850" y="1734572"/>
            <a:ext cx="10020300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Electronic Voting Machine (EVM) retains all the characteristics of voting by ballot papers, while making polling a lot more expedient.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Considerable amount of time, man power and money is saved as it is extremely fast and reliable.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Voting secrecy is also maintained without use of ballot paper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ensure security and rights of the citizens we implemented finger print sensor and facial recognition for verification of the voter.</a:t>
            </a:r>
          </a:p>
        </p:txBody>
      </p:sp>
    </p:spTree>
    <p:extLst>
      <p:ext uri="{BB962C8B-B14F-4D97-AF65-F5344CB8AC3E}">
        <p14:creationId xmlns:p14="http://schemas.microsoft.com/office/powerpoint/2010/main" val="2947576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BE34CAF6-DCE4-4A3B-B173-4B711FA61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2748782"/>
              </p:ext>
            </p:extLst>
          </p:nvPr>
        </p:nvGraphicFramePr>
        <p:xfrm>
          <a:off x="149910" y="584775"/>
          <a:ext cx="11892165" cy="609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6459">
                  <a:extLst>
                    <a:ext uri="{9D8B030D-6E8A-4147-A177-3AD203B41FA5}">
                      <a16:colId xmlns:a16="http://schemas.microsoft.com/office/drawing/2014/main" val="2116754742"/>
                    </a:ext>
                  </a:extLst>
                </a:gridCol>
                <a:gridCol w="3449147">
                  <a:extLst>
                    <a:ext uri="{9D8B030D-6E8A-4147-A177-3AD203B41FA5}">
                      <a16:colId xmlns:a16="http://schemas.microsoft.com/office/drawing/2014/main" val="2231753211"/>
                    </a:ext>
                  </a:extLst>
                </a:gridCol>
                <a:gridCol w="1255594">
                  <a:extLst>
                    <a:ext uri="{9D8B030D-6E8A-4147-A177-3AD203B41FA5}">
                      <a16:colId xmlns:a16="http://schemas.microsoft.com/office/drawing/2014/main" val="3426501478"/>
                    </a:ext>
                  </a:extLst>
                </a:gridCol>
                <a:gridCol w="3643953">
                  <a:extLst>
                    <a:ext uri="{9D8B030D-6E8A-4147-A177-3AD203B41FA5}">
                      <a16:colId xmlns:a16="http://schemas.microsoft.com/office/drawing/2014/main" val="3205494145"/>
                    </a:ext>
                  </a:extLst>
                </a:gridCol>
                <a:gridCol w="2707012">
                  <a:extLst>
                    <a:ext uri="{9D8B030D-6E8A-4147-A177-3AD203B41FA5}">
                      <a16:colId xmlns:a16="http://schemas.microsoft.com/office/drawing/2014/main" val="3383872884"/>
                    </a:ext>
                  </a:extLst>
                </a:gridCol>
              </a:tblGrid>
              <a:tr h="524373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Sl.No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Paper Title and Author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 of Publication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Advantages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Drawback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419302"/>
                  </a:ext>
                </a:extLst>
              </a:tr>
              <a:tr h="524373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Electronic Voting Machine.</a:t>
                      </a:r>
                    </a:p>
                    <a:p>
                      <a:pPr algn="r"/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-D. Ashok Kumar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2012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Better than Ballot voting system.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The difficult task is the complexity of system.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8785117"/>
                  </a:ext>
                </a:extLst>
              </a:tr>
              <a:tr h="965950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Performance Electronic Voting Machine (EVM) Implementation Using ARM Cortex M3 .</a:t>
                      </a:r>
                    </a:p>
                    <a:p>
                      <a:pPr algn="r"/>
                      <a:r>
                        <a:rPr lang="en-IN" sz="1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Avinashi N J</a:t>
                      </a:r>
                      <a:endParaRPr lang="en-IN" sz="12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2020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Final vote count display are password protected.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 enough security.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3446616"/>
                  </a:ext>
                </a:extLst>
              </a:tr>
              <a:tr h="1186738">
                <a:tc>
                  <a:txBody>
                    <a:bodyPr/>
                    <a:lstStyle/>
                    <a:p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Design and implementation of convenient and compulsory voting system using finger print sensor and GSM technologies .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Shubhranil Chakraborty</a:t>
                      </a:r>
                      <a:endParaRPr lang="en-IN" sz="12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2020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FP secured, GSM based data sharing &amp; reduced Vote counting time</a:t>
                      </a: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Suitable for Small Scale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2104079"/>
                  </a:ext>
                </a:extLst>
              </a:tr>
              <a:tr h="745161"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1" i="0" u="none" strike="noStrike" kern="1200" baseline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Smart Online Voting System.</a:t>
                      </a:r>
                    </a:p>
                    <a:p>
                      <a:pPr algn="r"/>
                      <a:r>
                        <a:rPr lang="en-US" sz="1200" b="1" i="0" u="none" strike="noStrike" kern="1200" baseline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Ganesh Prabhu S</a:t>
                      </a:r>
                      <a:endParaRPr lang="en-IN" sz="12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i="0" u="none" strike="noStrike" kern="1200" baseline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This system doesn’t require any hardware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Servers </a:t>
                      </a:r>
                      <a:r>
                        <a:rPr lang="en-US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need to be secure and withstand against various attacks </a:t>
                      </a:r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7163380"/>
                  </a:ext>
                </a:extLst>
              </a:tr>
              <a:tr h="1041720">
                <a:tc>
                  <a:txBody>
                    <a:bodyPr/>
                    <a:lstStyle/>
                    <a:p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The Next Gen Election: Design and Development of E-Voting Web Application.</a:t>
                      </a:r>
                    </a:p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</a:t>
                      </a:r>
                      <a:r>
                        <a:rPr lang="en-IN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Raghav Chhabra</a:t>
                      </a:r>
                      <a:endParaRPr lang="en-IN" sz="1200" b="1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b="1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Database is stored in an undisclosed location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Officials of the Election Commission of India know the exact location</a:t>
                      </a:r>
                      <a:endParaRPr lang="en-US" sz="1600" b="1" i="0" u="none" strike="noStrike" kern="1200" baseline="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Time involvement is high.</a:t>
                      </a:r>
                      <a:endParaRPr lang="en-US" sz="1600" b="1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marL="285750" marR="0" lvl="0" indent="-2857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IN" sz="1600" b="1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Heavy and repetitive task of  vote management.</a:t>
                      </a:r>
                      <a:endParaRPr lang="en-US" sz="1600" b="1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endParaRPr lang="en-IN" sz="16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229022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FB26A8A-EA4F-4A70-B56F-4AA9281AC805}"/>
              </a:ext>
            </a:extLst>
          </p:cNvPr>
          <p:cNvSpPr txBox="1"/>
          <p:nvPr/>
        </p:nvSpPr>
        <p:spPr>
          <a:xfrm>
            <a:off x="370150" y="0"/>
            <a:ext cx="11451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Survey: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74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03630B-4996-4601-AB38-8696D9D03527}"/>
              </a:ext>
            </a:extLst>
          </p:cNvPr>
          <p:cNvSpPr txBox="1"/>
          <p:nvPr/>
        </p:nvSpPr>
        <p:spPr>
          <a:xfrm>
            <a:off x="715207" y="640081"/>
            <a:ext cx="33381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 System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37887-EAFA-40A9-ACC6-A8075DA138C3}"/>
              </a:ext>
            </a:extLst>
          </p:cNvPr>
          <p:cNvSpPr txBox="1"/>
          <p:nvPr/>
        </p:nvSpPr>
        <p:spPr>
          <a:xfrm>
            <a:off x="892628" y="1375787"/>
            <a:ext cx="10367555" cy="50119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existing voting system, doesn’t have person image identification, so that there are chances to misuse the others rights.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counting of votes takes some weeks after voting so insider or criminal can use the clip-on device to change the votes recorded in EVM.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limitation of this system is present in its fingerprint acquisition process.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Since the finger print gets tampered due to age, work and other factors such as skin problems, wet hands. so that the system may lags to recognize them.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Also this system contains two parts, control unit and ballot unit, so </a:t>
            </a:r>
            <a:r>
              <a:rPr lang="en-US" sz="2400" b="0" i="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its</a:t>
            </a:r>
            <a:r>
              <a:rPr lang="en-US" sz="2400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hard to maintain these two parts. </a:t>
            </a:r>
          </a:p>
        </p:txBody>
      </p:sp>
    </p:spTree>
    <p:extLst>
      <p:ext uri="{BB962C8B-B14F-4D97-AF65-F5344CB8AC3E}">
        <p14:creationId xmlns:p14="http://schemas.microsoft.com/office/powerpoint/2010/main" val="1617028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6AB1FA-4FD6-41AD-9A75-E204319BD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4558" y="1452451"/>
            <a:ext cx="7662884" cy="48936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9B46EC9-A928-40D7-9D22-B01690283587}"/>
              </a:ext>
            </a:extLst>
          </p:cNvPr>
          <p:cNvSpPr txBox="1"/>
          <p:nvPr/>
        </p:nvSpPr>
        <p:spPr>
          <a:xfrm>
            <a:off x="1001486" y="511925"/>
            <a:ext cx="5094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System:</a:t>
            </a:r>
          </a:p>
        </p:txBody>
      </p:sp>
    </p:spTree>
    <p:extLst>
      <p:ext uri="{BB962C8B-B14F-4D97-AF65-F5344CB8AC3E}">
        <p14:creationId xmlns:p14="http://schemas.microsoft.com/office/powerpoint/2010/main" val="95866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EF9142A-52A8-4CA4-AB32-247D1FD2890E}"/>
              </a:ext>
            </a:extLst>
          </p:cNvPr>
          <p:cNvSpPr txBox="1"/>
          <p:nvPr/>
        </p:nvSpPr>
        <p:spPr>
          <a:xfrm>
            <a:off x="847106" y="1300781"/>
            <a:ext cx="10497788" cy="50119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u="none" strike="noStrike" baseline="0" dirty="0">
                <a:latin typeface="Times New Roman" panose="02020603050405020304" pitchFamily="18" charset="0"/>
              </a:rPr>
              <a:t>In this project, an attempt has been made to the development of an authenticated electronic voting system using fingerprint and facial </a:t>
            </a:r>
            <a:r>
              <a:rPr lang="en-US" sz="2400" dirty="0">
                <a:latin typeface="Times New Roman" panose="02020603050405020304" pitchFamily="18" charset="0"/>
              </a:rPr>
              <a:t>recognition.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two-fold authentication system improves the security of the voting process and reduces the chances of a corrupt election process.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facial recognition process utilizes the Local Binary Pattern Histogram and Support Vector Machine process to scan, store and recognize faces efficiently.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private server (cloud or local) is used to store both the user data and the election results separately.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reduces the chances of external manipulation of the election results.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13E1219-AAF8-4F2A-B1A1-5177BA401933}"/>
              </a:ext>
            </a:extLst>
          </p:cNvPr>
          <p:cNvSpPr txBox="1"/>
          <p:nvPr/>
        </p:nvSpPr>
        <p:spPr>
          <a:xfrm>
            <a:off x="847106" y="716006"/>
            <a:ext cx="379390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System: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2905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6DE816-1B3A-4538-A607-A74063419562}"/>
              </a:ext>
            </a:extLst>
          </p:cNvPr>
          <p:cNvSpPr txBox="1"/>
          <p:nvPr/>
        </p:nvSpPr>
        <p:spPr>
          <a:xfrm>
            <a:off x="957262" y="1073408"/>
            <a:ext cx="48101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609479-A6EE-4AC6-991B-9B0725233491}"/>
              </a:ext>
            </a:extLst>
          </p:cNvPr>
          <p:cNvSpPr txBox="1"/>
          <p:nvPr/>
        </p:nvSpPr>
        <p:spPr>
          <a:xfrm>
            <a:off x="1683058" y="1754022"/>
            <a:ext cx="10125075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Preserves voting secrecy, No scope for invalid votes</a:t>
            </a:r>
          </a:p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Highly tamper – proof.</a:t>
            </a:r>
          </a:p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Manpower required Less.</a:t>
            </a:r>
          </a:p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Avoids invalid voting as it prevents unregistered voters from voting. </a:t>
            </a:r>
          </a:p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Vote counting is digitalized so, counting process becomes lot more easier.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547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715FBDC-D873-42B3-B8DE-614C50D750E5}"/>
              </a:ext>
            </a:extLst>
          </p:cNvPr>
          <p:cNvSpPr/>
          <p:nvPr/>
        </p:nvSpPr>
        <p:spPr>
          <a:xfrm>
            <a:off x="2473275" y="1934428"/>
            <a:ext cx="1600200" cy="990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</a:t>
            </a: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supply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505D52-BD13-4D38-8FEB-C67A6CB388C0}"/>
              </a:ext>
            </a:extLst>
          </p:cNvPr>
          <p:cNvSpPr/>
          <p:nvPr/>
        </p:nvSpPr>
        <p:spPr>
          <a:xfrm>
            <a:off x="5470125" y="1772110"/>
            <a:ext cx="1524000" cy="34605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 32</a:t>
            </a:r>
          </a:p>
        </p:txBody>
      </p:sp>
      <p:sp>
        <p:nvSpPr>
          <p:cNvPr id="6" name="Up Arrow 16">
            <a:extLst>
              <a:ext uri="{FF2B5EF4-FFF2-40B4-BE49-F238E27FC236}">
                <a16:creationId xmlns:a16="http://schemas.microsoft.com/office/drawing/2014/main" id="{3672B40F-2443-4D74-B219-AD4C42DF4275}"/>
              </a:ext>
            </a:extLst>
          </p:cNvPr>
          <p:cNvSpPr/>
          <p:nvPr/>
        </p:nvSpPr>
        <p:spPr>
          <a:xfrm rot="5400000">
            <a:off x="4608906" y="1837669"/>
            <a:ext cx="350838" cy="13716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34BE8F-E481-4651-AD3B-6791EFBEC390}"/>
              </a:ext>
            </a:extLst>
          </p:cNvPr>
          <p:cNvSpPr/>
          <p:nvPr/>
        </p:nvSpPr>
        <p:spPr>
          <a:xfrm>
            <a:off x="7679925" y="2348050"/>
            <a:ext cx="18288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LCD DISPLAY</a:t>
            </a:r>
          </a:p>
        </p:txBody>
      </p:sp>
      <p:sp>
        <p:nvSpPr>
          <p:cNvPr id="8" name="Down Arrow 27">
            <a:extLst>
              <a:ext uri="{FF2B5EF4-FFF2-40B4-BE49-F238E27FC236}">
                <a16:creationId xmlns:a16="http://schemas.microsoft.com/office/drawing/2014/main" id="{5C8AF724-CCB4-4A46-9072-DFB961E878E0}"/>
              </a:ext>
            </a:extLst>
          </p:cNvPr>
          <p:cNvSpPr/>
          <p:nvPr/>
        </p:nvSpPr>
        <p:spPr>
          <a:xfrm rot="16200000">
            <a:off x="7108425" y="2309950"/>
            <a:ext cx="457200" cy="6858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Up Arrow 19">
            <a:extLst>
              <a:ext uri="{FF2B5EF4-FFF2-40B4-BE49-F238E27FC236}">
                <a16:creationId xmlns:a16="http://schemas.microsoft.com/office/drawing/2014/main" id="{FC0EDEB6-BF46-4526-8272-5A43320C08A6}"/>
              </a:ext>
            </a:extLst>
          </p:cNvPr>
          <p:cNvSpPr/>
          <p:nvPr/>
        </p:nvSpPr>
        <p:spPr>
          <a:xfrm rot="5400000">
            <a:off x="4608906" y="2752069"/>
            <a:ext cx="350838" cy="13716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F998D-A083-4ED6-B977-2B965FC4523F}"/>
              </a:ext>
            </a:extLst>
          </p:cNvPr>
          <p:cNvSpPr/>
          <p:nvPr/>
        </p:nvSpPr>
        <p:spPr>
          <a:xfrm>
            <a:off x="2498325" y="3033850"/>
            <a:ext cx="1600200" cy="990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FINGER PRINT SENSOR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3DEE4A-22B8-43E6-9A86-87BB157404A6}"/>
              </a:ext>
            </a:extLst>
          </p:cNvPr>
          <p:cNvSpPr/>
          <p:nvPr/>
        </p:nvSpPr>
        <p:spPr>
          <a:xfrm>
            <a:off x="3581400" y="609991"/>
            <a:ext cx="4572000" cy="5847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 DIAGRAM</a:t>
            </a:r>
          </a:p>
        </p:txBody>
      </p:sp>
      <p:sp>
        <p:nvSpPr>
          <p:cNvPr id="12" name="Up Arrow 19">
            <a:extLst>
              <a:ext uri="{FF2B5EF4-FFF2-40B4-BE49-F238E27FC236}">
                <a16:creationId xmlns:a16="http://schemas.microsoft.com/office/drawing/2014/main" id="{6A9A7CCE-021B-48F4-A34B-8FAAA0FFF0F6}"/>
              </a:ext>
            </a:extLst>
          </p:cNvPr>
          <p:cNvSpPr/>
          <p:nvPr/>
        </p:nvSpPr>
        <p:spPr>
          <a:xfrm rot="5400000">
            <a:off x="4608906" y="3912986"/>
            <a:ext cx="350838" cy="13716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2BE9D9C-CE47-4932-B471-6AEBBDA83004}"/>
              </a:ext>
            </a:extLst>
          </p:cNvPr>
          <p:cNvSpPr/>
          <p:nvPr/>
        </p:nvSpPr>
        <p:spPr>
          <a:xfrm>
            <a:off x="2498325" y="4253050"/>
            <a:ext cx="1600200" cy="7509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RS232</a:t>
            </a:r>
          </a:p>
        </p:txBody>
      </p:sp>
      <p:sp>
        <p:nvSpPr>
          <p:cNvPr id="14" name="Up Arrow 19">
            <a:extLst>
              <a:ext uri="{FF2B5EF4-FFF2-40B4-BE49-F238E27FC236}">
                <a16:creationId xmlns:a16="http://schemas.microsoft.com/office/drawing/2014/main" id="{FBE9C6C4-744B-4845-A3D8-5E8C5731F4B5}"/>
              </a:ext>
            </a:extLst>
          </p:cNvPr>
          <p:cNvSpPr/>
          <p:nvPr/>
        </p:nvSpPr>
        <p:spPr>
          <a:xfrm rot="16200000">
            <a:off x="4608906" y="5523017"/>
            <a:ext cx="350838" cy="1095093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9DCEB8-54A3-43E4-99EA-F42B72422187}"/>
              </a:ext>
            </a:extLst>
          </p:cNvPr>
          <p:cNvSpPr/>
          <p:nvPr/>
        </p:nvSpPr>
        <p:spPr>
          <a:xfrm>
            <a:off x="2473275" y="5555483"/>
            <a:ext cx="1600200" cy="9906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CAMERA</a:t>
            </a:r>
          </a:p>
        </p:txBody>
      </p:sp>
      <p:sp>
        <p:nvSpPr>
          <p:cNvPr id="16" name="Up Arrow 19">
            <a:extLst>
              <a:ext uri="{FF2B5EF4-FFF2-40B4-BE49-F238E27FC236}">
                <a16:creationId xmlns:a16="http://schemas.microsoft.com/office/drawing/2014/main" id="{EEF139C1-5838-491A-A023-DBCC14E75463}"/>
              </a:ext>
            </a:extLst>
          </p:cNvPr>
          <p:cNvSpPr/>
          <p:nvPr/>
        </p:nvSpPr>
        <p:spPr>
          <a:xfrm>
            <a:off x="3102725" y="5003962"/>
            <a:ext cx="350838" cy="380873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F9D7F18-A472-44BA-B91E-1556F259FCCB}"/>
              </a:ext>
            </a:extLst>
          </p:cNvPr>
          <p:cNvSpPr/>
          <p:nvPr/>
        </p:nvSpPr>
        <p:spPr>
          <a:xfrm>
            <a:off x="5562600" y="5730903"/>
            <a:ext cx="1339051" cy="639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D0A4979-910C-4571-B940-395F981C1C1A}"/>
              </a:ext>
            </a:extLst>
          </p:cNvPr>
          <p:cNvSpPr/>
          <p:nvPr/>
        </p:nvSpPr>
        <p:spPr>
          <a:xfrm>
            <a:off x="7679925" y="4024450"/>
            <a:ext cx="18288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CAPACITIVE TOUCH PAD</a:t>
            </a:r>
          </a:p>
        </p:txBody>
      </p:sp>
      <p:sp>
        <p:nvSpPr>
          <p:cNvPr id="19" name="Down Arrow 27">
            <a:extLst>
              <a:ext uri="{FF2B5EF4-FFF2-40B4-BE49-F238E27FC236}">
                <a16:creationId xmlns:a16="http://schemas.microsoft.com/office/drawing/2014/main" id="{2F725D99-7678-477B-95C4-B35F70B86D37}"/>
              </a:ext>
            </a:extLst>
          </p:cNvPr>
          <p:cNvSpPr/>
          <p:nvPr/>
        </p:nvSpPr>
        <p:spPr>
          <a:xfrm rot="5400000">
            <a:off x="7108425" y="3986350"/>
            <a:ext cx="457200" cy="6858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13484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E3AD7-0B54-4C26-9D41-9A601633D62B}"/>
              </a:ext>
            </a:extLst>
          </p:cNvPr>
          <p:cNvSpPr txBox="1">
            <a:spLocks/>
          </p:cNvSpPr>
          <p:nvPr/>
        </p:nvSpPr>
        <p:spPr>
          <a:xfrm>
            <a:off x="446395" y="363538"/>
            <a:ext cx="7620000" cy="114300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Requirements:</a:t>
            </a:r>
            <a:br>
              <a:rPr lang="en-I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C2893-2A81-4E73-B78C-A3180A056193}"/>
              </a:ext>
            </a:extLst>
          </p:cNvPr>
          <p:cNvSpPr txBox="1">
            <a:spLocks/>
          </p:cNvSpPr>
          <p:nvPr/>
        </p:nvSpPr>
        <p:spPr>
          <a:xfrm>
            <a:off x="2286000" y="363538"/>
            <a:ext cx="7620000" cy="48006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114300" indent="0">
              <a:lnSpc>
                <a:spcPct val="150000"/>
              </a:lnSpc>
              <a:buFont typeface="Wingdings 3" charset="2"/>
              <a:buNone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supply unit.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Fingerprint sensor.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Facial Recognition module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 32.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RS 232.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*2 LCD DISPLAY.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Capacitive touch pad.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Push buttons.</a:t>
            </a:r>
          </a:p>
          <a:p>
            <a:pPr>
              <a:lnSpc>
                <a:spcPct val="150000"/>
              </a:lnSpc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 indication.</a:t>
            </a:r>
          </a:p>
          <a:p>
            <a:pPr>
              <a:lnSpc>
                <a:spcPct val="15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8893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FA014-8482-4A9B-A20D-E493C6918861}"/>
              </a:ext>
            </a:extLst>
          </p:cNvPr>
          <p:cNvSpPr txBox="1">
            <a:spLocks/>
          </p:cNvSpPr>
          <p:nvPr/>
        </p:nvSpPr>
        <p:spPr>
          <a:xfrm>
            <a:off x="635000" y="490538"/>
            <a:ext cx="5829300" cy="855662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32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Software Requirements:</a:t>
            </a:r>
            <a:br>
              <a:rPr lang="en-IN" sz="32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69B8E-5733-4BD4-9FF2-6F6CE762BC0A}"/>
              </a:ext>
            </a:extLst>
          </p:cNvPr>
          <p:cNvSpPr txBox="1">
            <a:spLocks/>
          </p:cNvSpPr>
          <p:nvPr/>
        </p:nvSpPr>
        <p:spPr>
          <a:xfrm>
            <a:off x="1574800" y="1625600"/>
            <a:ext cx="7620000" cy="3898900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>
              <a:lnSpc>
                <a:spcPct val="150000"/>
              </a:lnSpc>
              <a:spcAft>
                <a:spcPts val="1000"/>
              </a:spcAft>
              <a:buFont typeface="Wingdings" panose="05000000000000000000" pitchFamily="2" charset="2"/>
              <a:buChar char=""/>
              <a:tabLst>
                <a:tab pos="457200" algn="l"/>
              </a:tabLst>
            </a:pPr>
            <a:r>
              <a:rPr lang="en-US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Mat lab 8.1 </a:t>
            </a:r>
            <a:endParaRPr lang="en-IN" sz="24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buFont typeface="Wingdings" panose="05000000000000000000" pitchFamily="2" charset="2"/>
              <a:buChar char=""/>
              <a:tabLst>
                <a:tab pos="457200" algn="l"/>
              </a:tabLst>
            </a:pPr>
            <a:r>
              <a:rPr lang="en-US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Platform - AVR STUDIO </a:t>
            </a:r>
            <a:endParaRPr lang="en-IN" sz="24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buFont typeface="Wingdings" panose="05000000000000000000" pitchFamily="2" charset="2"/>
              <a:buChar char=""/>
              <a:tabLst>
                <a:tab pos="457200" algn="l"/>
              </a:tabLst>
            </a:pPr>
            <a:r>
              <a:rPr lang="en-US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 System Programmer - ProgISP 172</a:t>
            </a:r>
            <a:endParaRPr lang="en-IN" sz="24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1000"/>
              </a:spcAft>
              <a:buFont typeface="Wingdings" panose="05000000000000000000" pitchFamily="2" charset="2"/>
              <a:buChar char=""/>
              <a:tabLst>
                <a:tab pos="457200" algn="l"/>
              </a:tabLst>
            </a:pPr>
            <a:r>
              <a:rPr lang="en-US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Compiler – Win AVR</a:t>
            </a:r>
            <a:endParaRPr lang="en-IN" sz="24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1652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73E6A-AE5B-4FA8-87F3-F4A929386F43}"/>
              </a:ext>
            </a:extLst>
          </p:cNvPr>
          <p:cNvSpPr txBox="1">
            <a:spLocks/>
          </p:cNvSpPr>
          <p:nvPr/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F957F-B3BA-4597-8A8F-9BE258E95DDE}"/>
              </a:ext>
            </a:extLst>
          </p:cNvPr>
          <p:cNvSpPr txBox="1">
            <a:spLocks/>
          </p:cNvSpPr>
          <p:nvPr/>
        </p:nvSpPr>
        <p:spPr>
          <a:xfrm>
            <a:off x="1244600" y="1320800"/>
            <a:ext cx="7620000" cy="4800600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0" i="0" u="none" strike="noStrike" baseline="0" dirty="0">
                <a:latin typeface="TimesNewRomanPSMT"/>
              </a:rPr>
              <a:t>D. Ashok Kumar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“Electric voting-machine”, Granted </a:t>
            </a:r>
            <a:r>
              <a:rPr lang="en-US" i="0" u="none" strike="noStrike" baseline="0" dirty="0">
                <a:latin typeface="TimesNewRomanPSMT"/>
              </a:rPr>
              <a:t>March 21-23, 2012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J. Fried and A. Lee, “Study On Open Source Voting Systems”, Draft Report, San Francisco Local Agency Formation Commission, 2015.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Wikipedia, “Electronic voting”, 2015. [Online]. Available: https://en.wikipedia.org/wiki/Electronic_voting.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 Boyle, 'Pentagon launches Internet voting effort for overseas Americans', MSNBC, 2003.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D. Jefferson, A. Rubin, B. Simmons, and D. Wagner. “A Security Analysis of the Secure Electronic Registration and Voting Experiment (SERVE)”. Technical report, 2004.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GIAC Security Essentials Certification, “Trusting the machine: inherent problems with electronic voting systems”, Global Information Assurance Certification Paper, 2004.. </a:t>
            </a:r>
          </a:p>
        </p:txBody>
      </p:sp>
    </p:spTree>
    <p:extLst>
      <p:ext uri="{BB962C8B-B14F-4D97-AF65-F5344CB8AC3E}">
        <p14:creationId xmlns:p14="http://schemas.microsoft.com/office/powerpoint/2010/main" val="2796079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3E6B2A-080F-4143-BC92-2C58724B8753}"/>
              </a:ext>
            </a:extLst>
          </p:cNvPr>
          <p:cNvSpPr txBox="1"/>
          <p:nvPr/>
        </p:nvSpPr>
        <p:spPr>
          <a:xfrm>
            <a:off x="1161535" y="2832325"/>
            <a:ext cx="968769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  <a:endParaRPr lang="en-IN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33178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629</TotalTime>
  <Words>857</Words>
  <Application>Microsoft Office PowerPoint</Application>
  <PresentationFormat>Widescreen</PresentationFormat>
  <Paragraphs>109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Calibri</vt:lpstr>
      <vt:lpstr>Century Gothic</vt:lpstr>
      <vt:lpstr>Times New Roman</vt:lpstr>
      <vt:lpstr>TimesNewRomanPSMT</vt:lpstr>
      <vt:lpstr>Wingdings</vt:lpstr>
      <vt:lpstr>Wingdings 3</vt:lpstr>
      <vt:lpstr>Ion</vt:lpstr>
      <vt:lpstr>Electronic Voting Machine with fingerprint and facial recognition</vt:lpstr>
      <vt:lpstr>Objective: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Electronic Voting Machine</dc:title>
  <dc:creator>ShaDow MoNaRcH</dc:creator>
  <cp:lastModifiedBy>KALAIARASAN</cp:lastModifiedBy>
  <cp:revision>54</cp:revision>
  <dcterms:created xsi:type="dcterms:W3CDTF">2022-03-17T09:06:25Z</dcterms:created>
  <dcterms:modified xsi:type="dcterms:W3CDTF">2022-05-12T23:47:12Z</dcterms:modified>
</cp:coreProperties>
</file>