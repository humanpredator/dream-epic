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0"/>
  </p:notesMasterIdLst>
  <p:sldIdLst>
    <p:sldId id="256" r:id="rId2"/>
    <p:sldId id="262" r:id="rId3"/>
    <p:sldId id="264" r:id="rId4"/>
    <p:sldId id="263" r:id="rId5"/>
    <p:sldId id="260" r:id="rId6"/>
    <p:sldId id="265" r:id="rId7"/>
    <p:sldId id="266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01325D-BC9B-40CA-A232-812DD10CD9D7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108411-82E5-48F5-A95A-D6382729B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379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11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85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234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9235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218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393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6131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754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5457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113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9677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05584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493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1970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75526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7618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4309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FFD472B-3F04-4140-8EB9-D00A0FF39B7A}" type="datetimeFigureOut">
              <a:rPr lang="en-IN" smtClean="0"/>
              <a:t>21-04-2022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11362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D655F-E6EE-438E-9494-470CD0167D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4429" y="1106387"/>
            <a:ext cx="8723141" cy="2322613"/>
          </a:xfrm>
        </p:spPr>
        <p:txBody>
          <a:bodyPr>
            <a:normAutofit/>
          </a:bodyPr>
          <a:lstStyle/>
          <a:p>
            <a:pPr algn="ctr"/>
            <a:r>
              <a:rPr lang="en-US" sz="4800" b="1" dirty="0"/>
              <a:t>Electronic Voting Machine with fingerprint and facial recognition</a:t>
            </a:r>
            <a:endParaRPr lang="en-IN" sz="4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9961E-8CD6-4F05-8B38-E802CE0C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581" y="4388360"/>
            <a:ext cx="4057136" cy="141480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Guided By;</a:t>
            </a:r>
          </a:p>
          <a:p>
            <a:r>
              <a:rPr lang="en-US" sz="1600" dirty="0" err="1">
                <a:solidFill>
                  <a:schemeClr val="tx1"/>
                </a:solidFill>
              </a:rPr>
              <a:t>Asst.Professor</a:t>
            </a:r>
            <a:r>
              <a:rPr lang="en-US" sz="1800" dirty="0">
                <a:solidFill>
                  <a:schemeClr val="tx1"/>
                </a:solidFill>
              </a:rPr>
              <a:t>. </a:t>
            </a:r>
            <a:r>
              <a:rPr lang="en-US" sz="1800" b="1" dirty="0">
                <a:solidFill>
                  <a:schemeClr val="tx1"/>
                </a:solidFill>
              </a:rPr>
              <a:t>Kanagaraj 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F5040-E8AA-4B74-BA23-133F88918A92}"/>
              </a:ext>
            </a:extLst>
          </p:cNvPr>
          <p:cNvSpPr txBox="1"/>
          <p:nvPr/>
        </p:nvSpPr>
        <p:spPr>
          <a:xfrm>
            <a:off x="9086568" y="4388360"/>
            <a:ext cx="5029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Presented by;</a:t>
            </a:r>
          </a:p>
          <a:p>
            <a:r>
              <a:rPr lang="en-IN" dirty="0"/>
              <a:t>	Bharath G</a:t>
            </a:r>
          </a:p>
          <a:p>
            <a:r>
              <a:rPr lang="en-IN" dirty="0"/>
              <a:t>	Kalaiarasan M.K</a:t>
            </a:r>
          </a:p>
          <a:p>
            <a:r>
              <a:rPr lang="en-IN" dirty="0"/>
              <a:t>	Mubarak Ali S.Y</a:t>
            </a:r>
          </a:p>
          <a:p>
            <a:r>
              <a:rPr lang="en-IN" dirty="0"/>
              <a:t>	Ajay R</a:t>
            </a:r>
          </a:p>
        </p:txBody>
      </p:sp>
    </p:spTree>
    <p:extLst>
      <p:ext uri="{BB962C8B-B14F-4D97-AF65-F5344CB8AC3E}">
        <p14:creationId xmlns:p14="http://schemas.microsoft.com/office/powerpoint/2010/main" val="2406087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E34CAF6-DCE4-4A3B-B173-4B711FA6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099352"/>
              </p:ext>
            </p:extLst>
          </p:nvPr>
        </p:nvGraphicFramePr>
        <p:xfrm>
          <a:off x="149914" y="939617"/>
          <a:ext cx="11892165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459">
                  <a:extLst>
                    <a:ext uri="{9D8B030D-6E8A-4147-A177-3AD203B41FA5}">
                      <a16:colId xmlns:a16="http://schemas.microsoft.com/office/drawing/2014/main" val="2116754742"/>
                    </a:ext>
                  </a:extLst>
                </a:gridCol>
                <a:gridCol w="3449147">
                  <a:extLst>
                    <a:ext uri="{9D8B030D-6E8A-4147-A177-3AD203B41FA5}">
                      <a16:colId xmlns:a16="http://schemas.microsoft.com/office/drawing/2014/main" val="2231753211"/>
                    </a:ext>
                  </a:extLst>
                </a:gridCol>
                <a:gridCol w="1255594">
                  <a:extLst>
                    <a:ext uri="{9D8B030D-6E8A-4147-A177-3AD203B41FA5}">
                      <a16:colId xmlns:a16="http://schemas.microsoft.com/office/drawing/2014/main" val="3426501478"/>
                    </a:ext>
                  </a:extLst>
                </a:gridCol>
                <a:gridCol w="3643953">
                  <a:extLst>
                    <a:ext uri="{9D8B030D-6E8A-4147-A177-3AD203B41FA5}">
                      <a16:colId xmlns:a16="http://schemas.microsoft.com/office/drawing/2014/main" val="3205494145"/>
                    </a:ext>
                  </a:extLst>
                </a:gridCol>
                <a:gridCol w="2707012">
                  <a:extLst>
                    <a:ext uri="{9D8B030D-6E8A-4147-A177-3AD203B41FA5}">
                      <a16:colId xmlns:a16="http://schemas.microsoft.com/office/drawing/2014/main" val="3383872884"/>
                    </a:ext>
                  </a:extLst>
                </a:gridCol>
              </a:tblGrid>
              <a:tr h="524373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Sl.No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 of Publication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19302"/>
                  </a:ext>
                </a:extLst>
              </a:tr>
              <a:tr h="524373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Electronic Voting Machine.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2012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Better than Ballot voting system.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The difficult task is the complexity of system.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785117"/>
                  </a:ext>
                </a:extLst>
              </a:tr>
              <a:tr h="96595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Performance Electronic Voting Machine (EVM) Implementation Using ARM Cortex M3 .</a:t>
                      </a: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vote count display are password protected.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enough security.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3446616"/>
                  </a:ext>
                </a:extLst>
              </a:tr>
              <a:tr h="1186738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Design and implementation of convenient and compulsory voting system using finger print sensor and GSM technologies .</a:t>
                      </a: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FP secured, GSM based data sharing &amp; reduced Vote counting time</a:t>
                      </a: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Suitable for Small Scale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104079"/>
                  </a:ext>
                </a:extLst>
              </a:tr>
              <a:tr h="745161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i="0" u="none" strike="noStrike" kern="1200" baseline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Smart Online Voting System.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i="0" u="none" strike="noStrike" kern="1200" baseline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This system no requirement of  an any electronic voting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Servers </a:t>
                      </a: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 to be secure and withstand against various attacks 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7163380"/>
                  </a:ext>
                </a:extLst>
              </a:tr>
              <a:tr h="1041720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The Next Gen Election: Design and Development of E-Voting Web Application</a:t>
                      </a:r>
                      <a:endParaRPr lang="en-US" sz="16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Database is stored in an undisclosed location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Officials of the Election Commission of India know the exact location</a:t>
                      </a:r>
                      <a:endParaRPr lang="en-US" sz="1600" b="1" i="0" u="none" strike="noStrike" kern="1200" baseline="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High cost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Time involvement is high.</a:t>
                      </a:r>
                      <a:endParaRPr lang="en-US" sz="16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Heavy and repetitive task of  vote management.</a:t>
                      </a:r>
                      <a:endParaRPr lang="en-US" sz="16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22902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FB26A8A-EA4F-4A70-B56F-4AA9281AC805}"/>
              </a:ext>
            </a:extLst>
          </p:cNvPr>
          <p:cNvSpPr txBox="1"/>
          <p:nvPr/>
        </p:nvSpPr>
        <p:spPr>
          <a:xfrm>
            <a:off x="370152" y="235455"/>
            <a:ext cx="11451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and Comparative Survey: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74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03630B-4996-4601-AB38-8696D9D03527}"/>
              </a:ext>
            </a:extLst>
          </p:cNvPr>
          <p:cNvSpPr txBox="1"/>
          <p:nvPr/>
        </p:nvSpPr>
        <p:spPr>
          <a:xfrm>
            <a:off x="715207" y="640081"/>
            <a:ext cx="333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 System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37887-EAFA-40A9-ACC6-A8075DA138C3}"/>
              </a:ext>
            </a:extLst>
          </p:cNvPr>
          <p:cNvSpPr txBox="1"/>
          <p:nvPr/>
        </p:nvSpPr>
        <p:spPr>
          <a:xfrm>
            <a:off x="892628" y="1375787"/>
            <a:ext cx="10367555" cy="5011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existing voting system, doesn’t have person image identification, so that there are chances to misuse the others rights.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counting of votes takes some weeks after voting so insider or criminal can use the clip-on device to change the votes recorded in EVM.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limitation of this system is present in its fingerprint acquisition process.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Since the finger print gets tampered due to age, work and other factors such as skin problems, wet hands. so that the system may lags to recognize them.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Also this system contains two parts, control unit and ballot unit, so </a:t>
            </a:r>
            <a:r>
              <a:rPr lang="en-US" sz="2400" b="0" i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en-US" sz="2400" b="0" i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hard to maintain these two parts. </a:t>
            </a:r>
          </a:p>
        </p:txBody>
      </p:sp>
    </p:spTree>
    <p:extLst>
      <p:ext uri="{BB962C8B-B14F-4D97-AF65-F5344CB8AC3E}">
        <p14:creationId xmlns:p14="http://schemas.microsoft.com/office/powerpoint/2010/main" val="161702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06837-9A3B-4435-A0B6-56F2ECFFE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638" y="681037"/>
            <a:ext cx="9404723" cy="1400530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9AD6C-9BD6-4354-875B-29D31710B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285950"/>
            <a:ext cx="10515600" cy="218154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Electronic Voting Machine with fingerprint and facial recognition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3192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F9142A-52A8-4CA4-AB32-247D1FD2890E}"/>
              </a:ext>
            </a:extLst>
          </p:cNvPr>
          <p:cNvSpPr txBox="1"/>
          <p:nvPr/>
        </p:nvSpPr>
        <p:spPr>
          <a:xfrm>
            <a:off x="847106" y="1300781"/>
            <a:ext cx="10497788" cy="5011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u="none" strike="noStrike" baseline="0" dirty="0">
                <a:latin typeface="Times New Roman" panose="02020603050405020304" pitchFamily="18" charset="0"/>
              </a:rPr>
              <a:t>In this project, an attempt has been made to the development of an authenticated electronic voting system using fingerprint and facial </a:t>
            </a:r>
            <a:r>
              <a:rPr lang="en-US" sz="2400" dirty="0">
                <a:latin typeface="Times New Roman" panose="02020603050405020304" pitchFamily="18" charset="0"/>
              </a:rPr>
              <a:t>recognition.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two-fold authentication system improves the security of the voting process and reduces the chances of a corrupt election process.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facial recognition process utilizes the Local Binary Pattern Histogram and Support Vector Machine process to scan, store and recognize faces efficiently.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private server (cloud or local) is used to store both the user data and the election results separately.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reduces the chances of external manipulation of the election results.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3E1219-AAF8-4F2A-B1A1-5177BA401933}"/>
              </a:ext>
            </a:extLst>
          </p:cNvPr>
          <p:cNvSpPr txBox="1"/>
          <p:nvPr/>
        </p:nvSpPr>
        <p:spPr>
          <a:xfrm>
            <a:off x="847106" y="716006"/>
            <a:ext cx="19056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Abstract: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2905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6AB1FA-4FD6-41AD-9A75-E204319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558" y="1452451"/>
            <a:ext cx="7662884" cy="48936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B46EC9-A928-40D7-9D22-B01690283587}"/>
              </a:ext>
            </a:extLst>
          </p:cNvPr>
          <p:cNvSpPr txBox="1"/>
          <p:nvPr/>
        </p:nvSpPr>
        <p:spPr>
          <a:xfrm>
            <a:off x="1001486" y="511925"/>
            <a:ext cx="5094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System:</a:t>
            </a:r>
          </a:p>
        </p:txBody>
      </p:sp>
    </p:spTree>
    <p:extLst>
      <p:ext uri="{BB962C8B-B14F-4D97-AF65-F5344CB8AC3E}">
        <p14:creationId xmlns:p14="http://schemas.microsoft.com/office/powerpoint/2010/main" val="9586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07E5B7E-457B-4D8B-B009-B247E75F9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736" y="1646173"/>
            <a:ext cx="6096528" cy="4218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DF955C-4AA7-47F0-8553-2CF9E9FC78B1}"/>
              </a:ext>
            </a:extLst>
          </p:cNvPr>
          <p:cNvSpPr txBox="1"/>
          <p:nvPr/>
        </p:nvSpPr>
        <p:spPr>
          <a:xfrm>
            <a:off x="940526" y="600891"/>
            <a:ext cx="411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System:</a:t>
            </a:r>
          </a:p>
        </p:txBody>
      </p:sp>
    </p:spTree>
    <p:extLst>
      <p:ext uri="{BB962C8B-B14F-4D97-AF65-F5344CB8AC3E}">
        <p14:creationId xmlns:p14="http://schemas.microsoft.com/office/powerpoint/2010/main" val="3011348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E6B2A-080F-4143-BC92-2C58724B8753}"/>
              </a:ext>
            </a:extLst>
          </p:cNvPr>
          <p:cNvSpPr txBox="1"/>
          <p:nvPr/>
        </p:nvSpPr>
        <p:spPr>
          <a:xfrm>
            <a:off x="1161535" y="2832325"/>
            <a:ext cx="9687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3178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517</TotalTime>
  <Words>452</Words>
  <Application>Microsoft Office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Century Gothic</vt:lpstr>
      <vt:lpstr>Times New Roman</vt:lpstr>
      <vt:lpstr>Wingdings 3</vt:lpstr>
      <vt:lpstr>Ion</vt:lpstr>
      <vt:lpstr>Electronic Voting Machine with fingerprint and facial recognition</vt:lpstr>
      <vt:lpstr>PowerPoint Presentation</vt:lpstr>
      <vt:lpstr>PowerPoint Presentation</vt:lpstr>
      <vt:lpstr>Proposed System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Electronic Voting Machine</dc:title>
  <dc:creator>ShaDow MoNaRcH</dc:creator>
  <cp:lastModifiedBy>KALAIARASAN</cp:lastModifiedBy>
  <cp:revision>28</cp:revision>
  <dcterms:created xsi:type="dcterms:W3CDTF">2022-03-17T09:06:25Z</dcterms:created>
  <dcterms:modified xsi:type="dcterms:W3CDTF">2022-04-21T16:24:16Z</dcterms:modified>
</cp:coreProperties>
</file>